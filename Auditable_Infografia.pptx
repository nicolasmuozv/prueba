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CE4E1"/>
                </a:solidFill>
                <a:latin typeface="Calibri"/>
              </a:rPr>
              <a:t>SOLUCIONES EMPRESARIALES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Boleta de honorarios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 sociedad: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C2C2C"/>
                </a:solidFill>
                <a:latin typeface="Calibri"/>
              </a:rPr>
              <a:t>¿cuál te conviene?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Guía práctica para profesionales de la salud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que quieren ordenar su tributación y pagar lo justo.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6019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CE4E1"/>
                </a:solidFill>
                <a:latin typeface="Calibri"/>
              </a:rPr>
              <a:t>Guía Tributaria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Las dos rutas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¿Cómo cobras tus servicios profesionales?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486400" cy="5074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486400" cy="914400"/>
          </a:xfrm>
          <a:prstGeom prst="round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CE4E1"/>
                </a:solidFill>
                <a:latin typeface="Calibri"/>
              </a:rPr>
              <a:t>RUTA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0136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Persona Natural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2491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560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Emite boletas de honorarios electrónicas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1927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15467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Tributa en 2ª Categoría (Art. 42 N°2 LIR)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13631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74903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Retención 15,25% año 2026 (imputable al IGC)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50799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343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Paga IGC sobre el total anual (hasta 40%)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10235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937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Deduce gastos reales o presunción 30% (tope 15 UTA)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69671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532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Exenta de IVA (Art. 12 letra E N°8 DL 825)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5486400" cy="5074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1417320"/>
            <a:ext cx="5486400" cy="91440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508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RUTA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8013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Sociedad (SpA / EIRL)</a:t>
            </a:r>
          </a:p>
        </p:txBody>
      </p:sp>
      <p:sp>
        <p:nvSpPr>
          <p:cNvPr id="28" name="Oval 27"/>
          <p:cNvSpPr/>
          <p:nvPr/>
        </p:nvSpPr>
        <p:spPr>
          <a:xfrm>
            <a:off x="6675120" y="272491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2560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Emite facturas exentas por servicios de salud ambulatorios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331927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15467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Tributa en 1ª Categoría (Art. 20 LIR)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3913631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374903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IDPC 12,5% régimen Pro Pyme (ejemplo aplicable)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450799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4343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Socios pagan IGC solo sobre lo que retiran</a:t>
            </a:r>
          </a:p>
        </p:txBody>
      </p:sp>
      <p:sp>
        <p:nvSpPr>
          <p:cNvPr id="36" name="Oval 35"/>
          <p:cNvSpPr/>
          <p:nvPr/>
        </p:nvSpPr>
        <p:spPr>
          <a:xfrm>
            <a:off x="6675120" y="510235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4937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Deduce gastos reales del giro (sin tope)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569671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5532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Exenta de IVA por prestaciones de salud ambulatoria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Comparativa rápida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Lo esencial de cada estructura en una mirada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475488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CONCEPTO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PERSONA NATURAL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417320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SOCIEDAD (SpA / EIRL)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92808"/>
            <a:ext cx="1127729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92808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Impuesto a la renta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892808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IGC (hasta 40%)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92808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IDPC 12,5% + IGC sobre retiros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68296"/>
            <a:ext cx="11277295" cy="47548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68296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¿Cuándo paga?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368296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100% del ingreso 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68296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Solo sobre lo retirado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43784"/>
            <a:ext cx="1127729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43784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Deducción de gastos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43784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30% presunto o reales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843784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Reales sin tope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19272"/>
            <a:ext cx="11277295" cy="47548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19272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319272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Exento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319272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Exento (salud ambulatoria)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94760"/>
            <a:ext cx="1127729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Retención mensual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794760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15,25% (año 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794760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No aplica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70248"/>
            <a:ext cx="11277295" cy="47548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70248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Contabilidad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270248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Simple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4270248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Completa obligatoria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745736"/>
            <a:ext cx="1127729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45736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Costo de operación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745736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Bajo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745736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Medio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21223"/>
            <a:ext cx="11277295" cy="47548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21223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C2C2C"/>
                </a:solidFill>
                <a:latin typeface="Calibri"/>
              </a:rPr>
              <a:t>Planificación tributaria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221223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Limitada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3608" y="5221223"/>
            <a:ext cx="34472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libri"/>
              </a:rPr>
              <a:t>Amplia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1417320"/>
            <a:ext cx="11277295" cy="4279391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3 formas de remunerarte desde tu sociedad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Cada vía tiene un tratamiento tributario distinto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77295" cy="150876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37160" cy="150876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6002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C2C2C"/>
                </a:solidFill>
                <a:latin typeface="Calibri"/>
              </a:rPr>
              <a:t>Retiro de utilidades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103120"/>
            <a:ext cx="9418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Tributas solo cuando retiras. El IDPC pagado por la sociedad se imputa como crédito al IGC. Permite diferir impuestos reinvirtiendo en la empresa.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39"/>
            <a:ext cx="11277295" cy="150876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63239"/>
            <a:ext cx="137160" cy="150876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474720"/>
            <a:ext cx="685800" cy="68580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747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461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C2C2C"/>
                </a:solidFill>
                <a:latin typeface="Calibri"/>
              </a:rPr>
              <a:t>Sueldo patronal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49039"/>
            <a:ext cx="9418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Te pagas un sueldo como administrador. Es gasto para la sociedad y tributa como renta del trabajo. Sujeto a cotizaciones. Útil para flujo estable.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9159"/>
            <a:ext cx="11277295" cy="150876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709159"/>
            <a:ext cx="137160" cy="150876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120640"/>
            <a:ext cx="685800" cy="68580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206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9204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C2C2C"/>
                </a:solidFill>
                <a:latin typeface="Calibri"/>
              </a:rPr>
              <a:t>Honorarios a tu propia sociedad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394959"/>
            <a:ext cx="9418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Emites boleta a tu sociedad. Tributa en 2ª categoría. Atención: el SII puede objetar la operación si no existe sustancia económica real.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Impacto tributario — ejemplo con $40.000.000 anuales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Comparativo referencial para un profesional de la salud · Año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77295" cy="548640"/>
          </a:xfrm>
          <a:prstGeom prst="roundRect">
            <a:avLst/>
          </a:prstGeom>
          <a:solidFill>
            <a:srgbClr val="F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Ingresos profesionales anuales: $40.000.000  ·  Cifras referenciales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548640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486400" cy="5486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PERSONA NATURAL  ·  Boleta de Honorarios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Ingreso bruto 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$40.000.000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10128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01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Gastos presuntos (30%)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015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($12.000.000)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85616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770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Base imponible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770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$28.000.000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61104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525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Retención BHE 15,25% (anual)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3525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$6.100.000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36592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2803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IGC estimado tramo 30-50 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828031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≈ $1.280.000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212079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035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Devolución probable en F22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3035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Sí (exceso retención)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687567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5349240"/>
            <a:ext cx="4937760" cy="548640"/>
          </a:xfrm>
          <a:prstGeom prst="round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Carga efectiva ≈ $1.280.000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5352" y="2148840"/>
            <a:ext cx="548640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45352" y="2148840"/>
            <a:ext cx="5486400" cy="54864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21488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SOCIEDAD  ·  SpA / EIRL Pro Pyme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Ingreso bruto anual (factura exenta)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$40.000.000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9672" y="3310128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3401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Gastos reales del giro (ej. 25%)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34015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($10.000.000)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9672" y="3785616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38770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Base imponible 1ª Categoría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1432" y="38770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$30.000.000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9672" y="4261104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9672" y="43525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IDPC 12,5% Pro Pyme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1432" y="43525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$3.750.000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9672" y="4736592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9672" y="482803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Utilidad disponible (retirable)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432" y="4828031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$26.250.000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9672" y="5212079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9672" y="53035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IGC sobre retiro neto al ejercicio*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1432" y="53035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2C2C2C"/>
                </a:solidFill>
                <a:latin typeface="Calibri"/>
              </a:rPr>
              <a:t>Solo si retira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19672" y="5687567"/>
            <a:ext cx="493776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19672" y="5349240"/>
            <a:ext cx="4937760" cy="54864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19672" y="53492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IDPC = $3.750.000  ·  IGC diferible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888888"/>
                </a:solidFill>
                <a:latin typeface="Calibri"/>
              </a:rPr>
              <a:t>* IDPC pagado por la sociedad se imputa como crédito al IGC del socio al retirar. Si reinvierte, posterga la tributación personal.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¿Cuándo SÍ conviene crear sociedad?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Casos en que la estructura genera valor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77295" cy="59436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81912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636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Ingresos anuales sobre $40.000.000 – $50.000.000, sostenidos en el tiempo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75688"/>
            <a:ext cx="11277295" cy="59436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240280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219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756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Tienes gastos reales relevantes: arriendo, secretaria, insumos, equipos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34056"/>
            <a:ext cx="11277295" cy="59436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898648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34056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Atiendes a clínicas, ISAPRES o instituciones que prefieren facturas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92424"/>
            <a:ext cx="11277295" cy="59436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557016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387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392424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Quieres reinvertir utilidades en tu consulta (más box, equipamiento)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50791"/>
            <a:ext cx="11277295" cy="59436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215383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970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050791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Buscas separar tu patrimonio personal del riesgo profesional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09159"/>
            <a:ext cx="11277295" cy="59436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4873751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554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09159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Quieres ordenar tu flujo con sueldo patronal y retiros planificados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67527"/>
            <a:ext cx="11277295" cy="59436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" y="5532119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138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367527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Proyectas crecer, incorporar profesionales o abrir nuevos puntos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¿Cuándo NO conviene?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Casos donde la sociedad es innecesaria o riesgosa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77295" cy="685800"/>
          </a:xfrm>
          <a:prstGeom prst="roundRect">
            <a:avLst/>
          </a:prstGeom>
          <a:solidFill>
            <a:srgbClr val="F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Ingresos bajos o variables sin gastos significativos asociados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67128"/>
            <a:ext cx="11277295" cy="685800"/>
          </a:xfrm>
          <a:prstGeom prst="roundRect">
            <a:avLst/>
          </a:prstGeom>
          <a:solidFill>
            <a:srgbClr val="F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368296"/>
            <a:ext cx="292608" cy="29260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6712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No tienes capacidad de asumir contabilidad completa ni costos fijos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16936"/>
            <a:ext cx="11277295" cy="685800"/>
          </a:xfrm>
          <a:prstGeom prst="roundRect">
            <a:avLst/>
          </a:prstGeom>
          <a:solidFill>
            <a:srgbClr val="F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118104"/>
            <a:ext cx="292608" cy="29260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998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16936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Pretendes incorporar socios sin sustancia económica real (riesgo NGA)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66744"/>
            <a:ext cx="11277295" cy="685800"/>
          </a:xfrm>
          <a:prstGeom prst="roundRect">
            <a:avLst/>
          </a:prstGeom>
          <a:solidFill>
            <a:srgbClr val="F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867911"/>
            <a:ext cx="292608" cy="29260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96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666744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Tu única motivación es bajar impuestos sin razón económica detrás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16552"/>
            <a:ext cx="11277295" cy="685800"/>
          </a:xfrm>
          <a:prstGeom prst="roundRect">
            <a:avLst/>
          </a:prstGeom>
          <a:solidFill>
            <a:srgbClr val="F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617720"/>
            <a:ext cx="292608" cy="29260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994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16552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Vas a retirar el 100% de las utilidades — no reinvertirás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66360"/>
            <a:ext cx="11277295" cy="685800"/>
          </a:xfrm>
          <a:prstGeom prst="roundRect">
            <a:avLst/>
          </a:prstGeom>
          <a:solidFill>
            <a:srgbClr val="F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5367528"/>
            <a:ext cx="292608" cy="29260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663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No quieres asumir las obligaciones formales mensuales y anuales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Costos y obligaciones de la sociedad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Antes de constituir, considera el costo total de operar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36576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657600" cy="68580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Costos iniciales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8775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Constitución (Empresa en un Día — gratis)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2783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632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Asesoría tributaria y contable de partida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867911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Inicio de actividades en el SII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1508760"/>
            <a:ext cx="36576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1508760"/>
            <a:ext cx="3657600" cy="68580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50876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Costos recurrentes</a:t>
            </a:r>
          </a:p>
        </p:txBody>
      </p:sp>
      <p:sp>
        <p:nvSpPr>
          <p:cNvPr id="20" name="Oval 19"/>
          <p:cNvSpPr/>
          <p:nvPr/>
        </p:nvSpPr>
        <p:spPr>
          <a:xfrm>
            <a:off x="4544568" y="258775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24231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Contabilidad completa mensual</a:t>
            </a:r>
          </a:p>
        </p:txBody>
      </p:sp>
      <p:sp>
        <p:nvSpPr>
          <p:cNvPr id="22" name="Oval 21"/>
          <p:cNvSpPr/>
          <p:nvPr/>
        </p:nvSpPr>
        <p:spPr>
          <a:xfrm>
            <a:off x="4544568" y="322783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0632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Declaraciones F29 (mensual) y F22 (anual)</a:t>
            </a:r>
          </a:p>
        </p:txBody>
      </p:sp>
      <p:sp>
        <p:nvSpPr>
          <p:cNvPr id="24" name="Oval 23"/>
          <p:cNvSpPr/>
          <p:nvPr/>
        </p:nvSpPr>
        <p:spPr>
          <a:xfrm>
            <a:off x="4544568" y="3867911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03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Libros, balance y registros de rentas</a:t>
            </a:r>
          </a:p>
        </p:txBody>
      </p:sp>
      <p:sp>
        <p:nvSpPr>
          <p:cNvPr id="26" name="Oval 25"/>
          <p:cNvSpPr/>
          <p:nvPr/>
        </p:nvSpPr>
        <p:spPr>
          <a:xfrm>
            <a:off x="4544568" y="450799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343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Patente municipal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1508760"/>
            <a:ext cx="36576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1508760"/>
            <a:ext cx="3657600" cy="685800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150876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Obligaciones formales</a:t>
            </a:r>
          </a:p>
        </p:txBody>
      </p:sp>
      <p:sp>
        <p:nvSpPr>
          <p:cNvPr id="31" name="Oval 30"/>
          <p:cNvSpPr/>
          <p:nvPr/>
        </p:nvSpPr>
        <p:spPr>
          <a:xfrm>
            <a:off x="8357616" y="258775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86216" y="24231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Emisión electrónica de DTE</a:t>
            </a:r>
          </a:p>
        </p:txBody>
      </p:sp>
      <p:sp>
        <p:nvSpPr>
          <p:cNvPr id="33" name="Oval 32"/>
          <p:cNvSpPr/>
          <p:nvPr/>
        </p:nvSpPr>
        <p:spPr>
          <a:xfrm>
            <a:off x="8357616" y="322783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86216" y="30632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Mantener registros de rentas empresariales</a:t>
            </a:r>
          </a:p>
        </p:txBody>
      </p:sp>
      <p:sp>
        <p:nvSpPr>
          <p:cNvPr id="35" name="Oval 34"/>
          <p:cNvSpPr/>
          <p:nvPr/>
        </p:nvSpPr>
        <p:spPr>
          <a:xfrm>
            <a:off x="8357616" y="3867911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86216" y="3703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Cumplir plazos de declaración y pago</a:t>
            </a:r>
          </a:p>
        </p:txBody>
      </p:sp>
      <p:sp>
        <p:nvSpPr>
          <p:cNvPr id="37" name="Oval 36"/>
          <p:cNvSpPr/>
          <p:nvPr/>
        </p:nvSpPr>
        <p:spPr>
          <a:xfrm>
            <a:off x="8357616" y="4507992"/>
            <a:ext cx="109728" cy="109728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6216" y="4343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Actualizar información societaria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40080" cy="640080"/>
          </a:xfrm>
          <a:prstGeom prst="round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Calibri"/>
              </a:rPr>
              <a:t>Recomendaciones prácticas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7498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7 pasos antes de tomar la decisión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7729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09728" cy="658368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563624"/>
            <a:ext cx="365760" cy="36576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636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630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Proyecta tus ingresos a 3 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64792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Antes de constituir, simula el ahorro real esperado.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12264"/>
            <a:ext cx="1127729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12264"/>
            <a:ext cx="109728" cy="658368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258568"/>
            <a:ext cx="365760" cy="36576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2585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57984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Cuantifica tus gastos reales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45973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Identifica qué deducirías efectivamente del giro.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07208"/>
            <a:ext cx="1127729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07208"/>
            <a:ext cx="109728" cy="658368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2953512"/>
            <a:ext cx="365760" cy="36576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953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85292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Evalúa tu modo de trabajo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1546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Solo, con equipo, en clínicas o consulta propia.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02152"/>
            <a:ext cx="1127729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502152"/>
            <a:ext cx="109728" cy="658368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3648456"/>
            <a:ext cx="365760" cy="36576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6484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547872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Decide retiro o reinversión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84962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Esto define el régimen tributario óptimo.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97096"/>
            <a:ext cx="1127729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197096"/>
            <a:ext cx="109728" cy="658368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" y="4343400"/>
            <a:ext cx="365760" cy="36576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24281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Considera el costo administrativo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54456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Una sociedad implica disciplina contable mensual.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92040"/>
            <a:ext cx="1127729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892040"/>
            <a:ext cx="109728" cy="658368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5038344"/>
            <a:ext cx="365760" cy="36576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038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937759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Escoge el régimen correcto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239512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14 D N°3 si reinvertirás · 14 D N°8 transparente si retirarás todo.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86983"/>
            <a:ext cx="1127729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586983"/>
            <a:ext cx="109728" cy="658368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7240" y="5733288"/>
            <a:ext cx="365760" cy="365760"/>
          </a:xfrm>
          <a:prstGeom prst="ellipse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33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632703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Asesórate antes de decidir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934455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Cada caso es único — no hay solución universal.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19672"/>
            <a:ext cx="12191695" cy="27432"/>
          </a:xfrm>
          <a:prstGeom prst="rect">
            <a:avLst/>
          </a:prstGeom>
          <a:solidFill>
            <a:srgbClr val="F2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AUDITABLE  ·  Soluciones Empresariales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659282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FCE4E1"/>
                </a:solidFill>
                <a:latin typeface="Calibri"/>
              </a:rPr>
              <a:t>Guía Tributaria 2026  ·  Profesionales de la Salud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