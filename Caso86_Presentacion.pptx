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Requisitos Sociedad de Profesionales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Verificación de cumplimiento — Caso 86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685800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Requisito (Circular 21/1991 y 50/2020)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91640"/>
            <a:ext cx="411480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¿Se cumple en el Caso 86?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Debe tratarse de una sociedad de personas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194560"/>
            <a:ext cx="4114800" cy="50292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Cumple — D es sociedad de personas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Objeto exclusivo: prestación de servicios o asesorías profesionales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743200"/>
            <a:ext cx="4114800" cy="50292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Cumple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Servicios prestados por intermedio de sus socios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291840"/>
            <a:ext cx="4114800" cy="50292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Cumple — A presta los servicios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TODOS los socios deben ejercer su profesión para la sociedad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840480"/>
            <a:ext cx="4114800" cy="50292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NO CUMPLE — B y C no prestan servicios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No es aceptable que un socio solo aporte capital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389120"/>
            <a:ext cx="4114800" cy="50292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NO CUMPLE — B y C solo aportan capital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6858000" cy="50292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00">
                <a:solidFill>
                  <a:srgbClr val="1C1C1C"/>
                </a:solidFill>
                <a:latin typeface="Calibri"/>
              </a:rPr>
              <a:t>La forma de remuneración no es relevante; sí la prestación efectiva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4937760"/>
            <a:ext cx="4114800" cy="50292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50">
                <a:solidFill>
                  <a:srgbClr val="FFFFFF"/>
                </a:solidFill>
                <a:latin typeface="Calibri"/>
              </a:rPr>
              <a:t>Solo A presta labor efectiva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52160"/>
            <a:ext cx="10972800" cy="502920"/>
          </a:xfrm>
          <a:prstGeom prst="roundRect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→ La sociedad D NO califica como 'sociedad de profesionales' por incumplimiento de requisitos formales esenciales (Circulares N°21/1991 y N°50/2020 del SII).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Normas Generales Antielusivas (NGA)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Arts. 4 bis, 4 ter, 4 quáter y 4 quinquies del Código Tributario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Art. 4 bis CT  ·  Principio de Buena 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532120" cy="18288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Las obligaciones tributarias nacen y se exigen conforme a la NATURALEZA JURÍDICA de los hechos, cualquiera sea la forma o denominación que las partes les den.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532120" cy="45720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Art. 4 ter CT  ·  ABUSO de las formas jurídicas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532120" cy="18288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Existe abuso cuando se evita total o parcialmente el hecho gravado, o se disminuye la base imponible, mediante actos que no produzcan efectos jurídicos o económicos relevantes distintos de los meramente tributarios.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5532120" cy="457200"/>
          </a:xfrm>
          <a:prstGeom prst="roundRect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Art. 4 quáter CT  ·  SIMULACIÓN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17720"/>
            <a:ext cx="5532120" cy="18288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Habrá simulación cuando los actos disimulen la configuración del hecho gravado o la naturaleza de los elementos de la obligación tributaria, o su monto o data de nacimiento.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60520"/>
            <a:ext cx="5532120" cy="45720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Art. 4 quinquies CT  ·  Procedimiento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617720"/>
            <a:ext cx="5532120" cy="18288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La existencia de abuso o simulación será declarada por el Tribunal Tributario y Aduanero, a requerimiento del Director del SII. Circular N°65 de 2015 imparte instrucciones.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¿Abuso o Simulación?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Calificación jurídica del esquema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623560" cy="50292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400">
                <a:solidFill>
                  <a:srgbClr val="FFFFFF"/>
                </a:solidFill>
                <a:latin typeface="Calibri"/>
              </a:rPr>
              <a:t>ABUSO  (Art. 4 ter 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5623560" cy="4023360"/>
          </a:xfrm>
          <a:prstGeom prst="roundRect">
            <a:avLst/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✔ Los actos son REALES, pero la FORMA es inapropiada.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✔ La sociedad D existe formalmente, hay socios, capital aportado, utilidades repartidas.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✔ El abuso radica en utilizar una figura societaria que carece de sustancia económica para B y C: solo aportan capital insignificante.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✔ Único efecto relevante distinto del tributario: NO HAY uno.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✔ El esquema reduce artificialmente la progresión del IGC de 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623560" cy="502920"/>
          </a:xfrm>
          <a:prstGeom prst="roundRect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400">
                <a:solidFill>
                  <a:srgbClr val="FFFFFF"/>
                </a:solidFill>
                <a:latin typeface="Calibri"/>
              </a:rPr>
              <a:t>SIMULACIÓN  (Art. 4 quáter CT)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40280"/>
            <a:ext cx="5623560" cy="4023360"/>
          </a:xfrm>
          <a:prstGeom prst="round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✖ Supondría que los actos jurídicos disimulan algo distinto de lo declarado.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✖ En el caso, NO hay un acto disimulado: los participantes son realmente socios.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✖ No hay divergencia consciente entre voluntad real y declarada.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✖ El SII y la doctrina entienden simulación como existencia de un acto secreto que oculta otro.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✖ Se descarta esta figura para el Caso 86.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355080"/>
            <a:ext cx="1106424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POSICIÓN DEL GRUPO:  el Caso 86 configura ABUSO DE FORMAS JURÍDICAS (Art. 4 ter 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¿Por qué es Abuso? — Fundamentos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Caso 86 configura los 3 elementos del Art. 4 ter CT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03120"/>
            <a:ext cx="640080" cy="640080"/>
          </a:xfrm>
          <a:prstGeom prst="ellipse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691640"/>
            <a:ext cx="1033272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1" sz="1400">
                <a:solidFill>
                  <a:srgbClr val="B03030"/>
                </a:solidFill>
                <a:latin typeface="Calibri"/>
              </a:rPr>
              <a:t>Reducción de la carga tributaria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57400"/>
            <a:ext cx="10332720" cy="109728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El esquema diluye los ingresos de A en tres tramos independientes del IGC, reduciendo la tasa marginal efectiva. La carga del IGC del contribuyente A se ve disminuida en relación a lo que correspondería si los ingresos los percibiera directamente, sea como independiente del Art. 42 N°2 o como único prestador del servicio.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200400"/>
            <a:ext cx="1033272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1" sz="1400">
                <a:solidFill>
                  <a:srgbClr val="C5501A"/>
                </a:solidFill>
                <a:latin typeface="Calibri"/>
              </a:rPr>
              <a:t>Ausencia de efectos jurídicos o económicos relevantes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566160"/>
            <a:ext cx="10332720" cy="109728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La participación de B y C carece de motivo económico válido distinto del tributario: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• Capital aportado insignificante frente a los ingresos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• No prestan servicios profesionales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• No aportan clientela ni cartera de clientes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• No tienen rol estratégico ni decisional relevante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• Su única función es absorber utilidades para diluir el IGC de 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709160"/>
            <a:ext cx="1033272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1" sz="1400">
                <a:solidFill>
                  <a:srgbClr val="1A3A5C"/>
                </a:solidFill>
                <a:latin typeface="Calibri"/>
              </a:rPr>
              <a:t>Forma jurídica artificiosa para el sustrato económico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074920"/>
            <a:ext cx="10332720" cy="109728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La figura 'sociedad de profesionales' del Art. 42 N°2 LIR está concebida para profesionales que efectivamente trabajan en conjunto. Su uso para canalizar la labor de uno solo, con socios pasivos, constituye una utilización inapropiada y artificial de la institución jurídica.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Efecto Tributario del Esquema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Ejemplo ilustrativo — Dilución de la progresión del IGC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92608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00">
                <a:solidFill>
                  <a:srgbClr val="FFFFFF"/>
                </a:solidFill>
                <a:latin typeface="Calibri"/>
              </a:rPr>
              <a:t>Escenario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691640"/>
            <a:ext cx="411480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00">
                <a:solidFill>
                  <a:srgbClr val="FFFFFF"/>
                </a:solidFill>
                <a:latin typeface="Calibri"/>
              </a:rPr>
              <a:t>Atribución de la renta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691640"/>
            <a:ext cx="237744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00">
                <a:solidFill>
                  <a:srgbClr val="FFFFFF"/>
                </a:solidFill>
                <a:latin typeface="Calibri"/>
              </a:rPr>
              <a:t>Tramo marginal IGC aprox.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20" y="1691640"/>
            <a:ext cx="1554480" cy="4572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0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94560"/>
            <a:ext cx="2926080" cy="914400"/>
          </a:xfrm>
          <a:prstGeom prst="round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050">
                <a:solidFill>
                  <a:srgbClr val="1C1C1C"/>
                </a:solidFill>
                <a:latin typeface="Calibri"/>
              </a:rPr>
              <a:t>Sin esquema</a:t>
            </a:r>
          </a:p>
          <a:p>
            <a:pPr algn="l"/>
            <a:r>
              <a:rPr b="1" sz="1050">
                <a:solidFill>
                  <a:srgbClr val="1C1C1C"/>
                </a:solidFill>
                <a:latin typeface="Calibri"/>
              </a:rPr>
              <a:t>(A trabajaría solo, sin sociedad)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194560"/>
            <a:ext cx="4114800" cy="914400"/>
          </a:xfrm>
          <a:prstGeom prst="round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A: $300 MM íntegro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2194560"/>
            <a:ext cx="2377440" cy="914400"/>
          </a:xfrm>
          <a:prstGeom prst="round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0" sz="1050">
                <a:solidFill>
                  <a:srgbClr val="1C1C1C"/>
                </a:solidFill>
                <a:latin typeface="Calibri"/>
              </a:rPr>
              <a:t>Tramo alto (≈ 40%)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194560"/>
            <a:ext cx="1554480" cy="914400"/>
          </a:xfrm>
          <a:prstGeom prst="round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00">
                <a:solidFill>
                  <a:srgbClr val="1C1C1C"/>
                </a:solidFill>
                <a:latin typeface="Calibri"/>
              </a:rPr>
              <a:t>Tributación correcta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2926080" cy="914400"/>
          </a:xfrm>
          <a:prstGeom prst="round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050">
                <a:solidFill>
                  <a:srgbClr val="1C1C1C"/>
                </a:solidFill>
                <a:latin typeface="Calibri"/>
              </a:rPr>
              <a:t>Con esquema D</a:t>
            </a:r>
          </a:p>
          <a:p>
            <a:pPr algn="l"/>
            <a:r>
              <a:rPr b="1" sz="1050">
                <a:solidFill>
                  <a:srgbClr val="1C1C1C"/>
                </a:solidFill>
                <a:latin typeface="Calibri"/>
              </a:rPr>
              <a:t>(3 socios, capital simbólico)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154680"/>
            <a:ext cx="4114800" cy="914400"/>
          </a:xfrm>
          <a:prstGeom prst="round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A: $100 MM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B: $100 MM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C: $100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154680"/>
            <a:ext cx="2377440" cy="914400"/>
          </a:xfrm>
          <a:prstGeom prst="round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0" sz="1050">
                <a:solidFill>
                  <a:srgbClr val="1C1C1C"/>
                </a:solidFill>
                <a:latin typeface="Calibri"/>
              </a:rPr>
              <a:t>Cada uno en tramo 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3154680"/>
            <a:ext cx="1554480" cy="914400"/>
          </a:xfrm>
          <a:prstGeom prst="round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00">
                <a:solidFill>
                  <a:srgbClr val="1C1C1C"/>
                </a:solidFill>
                <a:latin typeface="Calibri"/>
              </a:rPr>
              <a:t>Ahorro fiscal artificial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2926080" cy="914400"/>
          </a:xfrm>
          <a:prstGeom prst="round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050">
                <a:solidFill>
                  <a:srgbClr val="1C1C1C"/>
                </a:solidFill>
                <a:latin typeface="Calibri"/>
              </a:rPr>
              <a:t>Diferencial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4114800"/>
            <a:ext cx="4114800" cy="914400"/>
          </a:xfrm>
          <a:prstGeom prst="round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Mismo flujo económico real:</a:t>
            </a:r>
          </a:p>
          <a:p>
            <a:pPr algn="l"/>
            <a:r>
              <a:rPr b="0" sz="1050">
                <a:solidFill>
                  <a:srgbClr val="1C1C1C"/>
                </a:solidFill>
                <a:latin typeface="Calibri"/>
              </a:rPr>
              <a:t>los ingresos los generó 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4114800"/>
            <a:ext cx="2377440" cy="914400"/>
          </a:xfrm>
          <a:prstGeom prst="round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0" sz="1050">
                <a:solidFill>
                  <a:srgbClr val="1C1C1C"/>
                </a:solidFill>
                <a:latin typeface="Calibri"/>
              </a:rPr>
              <a:t>Disminución total IGC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4114800"/>
            <a:ext cx="1554480" cy="914400"/>
          </a:xfrm>
          <a:prstGeom prst="round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000">
                <a:solidFill>
                  <a:srgbClr val="1C1C1C"/>
                </a:solidFill>
                <a:latin typeface="Calibri"/>
              </a:rPr>
              <a:t>ABUSO Art. 4 ter 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000">
                <a:solidFill>
                  <a:srgbClr val="555555"/>
                </a:solidFill>
                <a:latin typeface="Calibri"/>
              </a:rPr>
              <a:t>Nota: cifras ilustrativas. El perjuicio fiscal efectivo dependerá del nivel real de ingresos, tasas marginales aplicables y otras rentas de los socios.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989320"/>
            <a:ext cx="11064240" cy="50292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50">
                <a:solidFill>
                  <a:srgbClr val="FFFFFF"/>
                </a:solidFill>
                <a:latin typeface="Calibri"/>
              </a:rPr>
              <a:t>Consecuencia jurídica:  el SII puede solicitar al TTA la declaración de ABUSO (Art. 4 quinquies CT), con efecto de recalificación y atribución íntegra de los ingresos a A para el cálculo del IGC + intereses + multas.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Alternativas de Solución 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Estructuras legítimas que A puede adoptar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280160" cy="150876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Alt.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691640"/>
            <a:ext cx="9784080" cy="457200"/>
          </a:xfrm>
          <a:prstGeom prst="round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Tributación directa como profesional independiente (Art. 42 N°2 LIR)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2148840"/>
            <a:ext cx="9784080" cy="105156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A ejerce como persona natural, emite boletas de honorarios, declara en segunda categoría. Opción gastos efectivos o presuntos (30%, tope 15 UTA). Paga IGC sobre la totalidad. Opción más simple y libre de cuestionamiento.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1280160" cy="1508760"/>
          </a:xfrm>
          <a:prstGeom prst="round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800">
                <a:solidFill>
                  <a:srgbClr val="1A3A5C"/>
                </a:solidFill>
                <a:latin typeface="Calibri"/>
              </a:rPr>
              <a:t>Alt.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291840"/>
            <a:ext cx="9784080" cy="457200"/>
          </a:xfrm>
          <a:prstGeom prst="round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1A3A5C"/>
                </a:solidFill>
                <a:latin typeface="Calibri"/>
              </a:rPr>
              <a:t>Sociedad de profesionales con socios que efectivamente trabajen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3749040"/>
            <a:ext cx="9784080" cy="105156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A se asocia solo con profesionales que ejerzan su profesión para la sociedad. Todos coadyuvan al servicio. D califica legítimamente y puede optar por tributar en 1ª o 2ª categoría conforme Art. 42 N°2 inciso 3°.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1280160" cy="1508760"/>
          </a:xfrm>
          <a:prstGeom prst="roundRect">
            <a:avLst/>
          </a:prstGeom>
          <a:solidFill>
            <a:srgbClr val="E6A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Alt.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892040"/>
            <a:ext cx="9784080" cy="457200"/>
          </a:xfrm>
          <a:prstGeom prst="roundRect">
            <a:avLst/>
          </a:prstGeom>
          <a:solidFill>
            <a:srgbClr val="E6A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Distribución de utilidades proporcional al trabajo prestado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5349240"/>
            <a:ext cx="9784080" cy="105156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Si D se mantiene con A, B y C, los estatutos pueden contemplar: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(i) participación diferenciada (ej. A 90%, B 5%, C 5%)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(ii) sueldo patronal a A previo a repartir utilidades.</a:t>
            </a:r>
          </a:p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La distribución debe reflejar el aporte económico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1C1C1C"/>
                </a:solidFill>
                <a:latin typeface="Cambria"/>
              </a:rPr>
              <a:t>Alternativas de Solución 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Vehículos societarios alternativos con sustancia económica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280160" cy="1691640"/>
          </a:xfrm>
          <a:prstGeom prst="roundRect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Alt.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691640"/>
            <a:ext cx="9784080" cy="457200"/>
          </a:xfrm>
          <a:prstGeom prst="roundRect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Sociedad por Acciones (SpA) — régimen 14D N°3 Pro Pyme General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2148840"/>
            <a:ext cx="9784080" cy="12344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Constituir SpA acogida al régimen 14D N°3 con tasa IDPC del 25%. A puede ser único accionista o tener accionistas con rol económico real. Permite planificación de retiros, reinversión y deducción amplia de gastos. Sin restricción de la figura 'sociedad de profesionales' pero exige sustancia.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280160" cy="169164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Alt.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9784080" cy="457200"/>
          </a:xfrm>
          <a:prstGeom prst="round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1" sz="1250">
                <a:solidFill>
                  <a:srgbClr val="FFFFFF"/>
                </a:solidFill>
                <a:latin typeface="Calibri"/>
              </a:rPr>
              <a:t>Régimen Pro Pyme Transparente — 14D N°8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3977640"/>
            <a:ext cx="9784080" cy="12344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100">
                <a:solidFill>
                  <a:srgbClr val="1C1C1C"/>
                </a:solidFill>
                <a:latin typeface="Calibri"/>
              </a:rPr>
              <a:t>Si socios son personas naturales, considerar 14D N°8 (Transparencia Tributaria). La empresa no paga IDPC; los socios pagan IGC directo. ATENCIÓN: este régimen NO soluciona el problema de fondo si B y C siguen siendo ficticios — el SII puede igualmente aplicar NGA. Solo viable con socios reales.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b="1" sz="1150">
                <a:solidFill>
                  <a:srgbClr val="FFFFFF"/>
                </a:solidFill>
                <a:latin typeface="Calibri"/>
              </a:rPr>
              <a:t>Recomendación práctica:  cualquier estructura debe poder acreditar SUSTANCIA ECONÓMICA REAL. La forma jurídica por sí sola no es suficiente; el SII y los tribunales exigirán demostración del aporte efectivo (trabajo, capital, clientela, dirección) de cada socio.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097280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b="0" sz="1400">
                <a:solidFill>
                  <a:srgbClr val="555555"/>
                </a:solidFill>
                <a:latin typeface="Calibri"/>
              </a:rPr>
              <a:t>Caso 86 — Catálogo de Esquemas Tributarios SII 2025</a:t>
            </a:r>
          </a:p>
        </p:txBody>
      </p:sp>
      <p:sp>
        <p:nvSpPr>
          <p:cNvPr id="5" name="Oval 4"/>
          <p:cNvSpPr/>
          <p:nvPr/>
        </p:nvSpPr>
        <p:spPr>
          <a:xfrm>
            <a:off x="530352" y="1787652"/>
            <a:ext cx="585216" cy="585216"/>
          </a:xfrm>
          <a:prstGeom prst="ellipse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91640"/>
            <a:ext cx="10424160" cy="7772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200">
                <a:solidFill>
                  <a:srgbClr val="1C1C1C"/>
                </a:solidFill>
                <a:latin typeface="Calibri"/>
              </a:rPr>
              <a:t>El esquema configura ABUSO de las formas jurídicas (Art. 4 ter CT). NO es simulación: los actos son reales pero la forma es inapropiada.</a:t>
            </a:r>
          </a:p>
        </p:txBody>
      </p:sp>
      <p:sp>
        <p:nvSpPr>
          <p:cNvPr id="7" name="Oval 6"/>
          <p:cNvSpPr/>
          <p:nvPr/>
        </p:nvSpPr>
        <p:spPr>
          <a:xfrm>
            <a:off x="530352" y="2656332"/>
            <a:ext cx="585216" cy="585216"/>
          </a:xfrm>
          <a:prstGeom prst="ellipse">
            <a:avLst/>
          </a:prstGeom>
          <a:solidFill>
            <a:srgbClr val="C55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560320"/>
            <a:ext cx="10424160" cy="7772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200">
                <a:solidFill>
                  <a:srgbClr val="1C1C1C"/>
                </a:solidFill>
                <a:latin typeface="Calibri"/>
              </a:rPr>
              <a:t>La sociedad D NO califica como sociedad de profesionales conforme a las Circulares N°21/1991 y N°50/2020 del SII (B y C no ejercen profesión para D).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3525012"/>
            <a:ext cx="585216" cy="585216"/>
          </a:xfrm>
          <a:prstGeom prst="ellipse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3429000"/>
            <a:ext cx="10424160" cy="7772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200">
                <a:solidFill>
                  <a:srgbClr val="1C1C1C"/>
                </a:solidFill>
                <a:latin typeface="Calibri"/>
              </a:rPr>
              <a:t>El SII puede solicitar al TTA la declaración de abuso (Art. 4 quinquies CT), con recalificación: atribución íntegra de ingresos a A para el IGC + intereses + multas.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4393692"/>
            <a:ext cx="585216" cy="585216"/>
          </a:xfrm>
          <a:prstGeom prst="ellipse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4297680"/>
            <a:ext cx="10424160" cy="7772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200">
                <a:solidFill>
                  <a:srgbClr val="1C1C1C"/>
                </a:solidFill>
                <a:latin typeface="Calibri"/>
              </a:rPr>
              <a:t>Existen alternativas legítimas: profesional independiente, sociedad de profesionales con socios reales, SpA Pro Pyme, distribución proporcional al trabajo real.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5262372"/>
            <a:ext cx="585216" cy="585216"/>
          </a:xfrm>
          <a:prstGeom prst="ellipse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A3A5C"/>
                </a:solidFill>
                <a:latin typeface="Calibr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166360"/>
            <a:ext cx="10424160" cy="77724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b="0" sz="1200">
                <a:solidFill>
                  <a:srgbClr val="1C1C1C"/>
                </a:solidFill>
                <a:latin typeface="Calibri"/>
              </a:rPr>
              <a:t>Toda estructura debe acreditar SUSTANCIA ECONÓMICA. La forma jurídica no basta; los socios deben aportar trabajo, capital, clientela o rol estratégico verificable.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263640"/>
            <a:ext cx="11064240" cy="320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ctr"/>
            <a:r>
              <a:rPr b="0" sz="1000">
                <a:solidFill>
                  <a:srgbClr val="555555"/>
                </a:solidFill>
                <a:latin typeface="Calibri"/>
              </a:rPr>
              <a:t>Magíster en Dirección Tributaria — Universidad Viña del 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6492240"/>
            <a:ext cx="11887200" cy="27432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r"/>
            <a:r>
              <a:rPr b="0" sz="800">
                <a:solidFill>
                  <a:srgbClr val="555555"/>
                </a:solidFill>
                <a:latin typeface="Calibri"/>
              </a:rPr>
              <a:t>Caso 86 · Magíster Dirección Tributaria UVM · Slide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