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mbria"/>
              </a:rPr>
              <a:t>CASO 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8EB4E3"/>
                </a:solidFill>
                <a:latin typeface="Calibri"/>
              </a:rPr>
              <a:t>Prestación de Servicios Profesionales mediante Sociedad Interpuesta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AABBCC"/>
                </a:solidFill>
                <a:latin typeface="Calibri"/>
              </a:rPr>
              <a:t>Catálogo de Esquemas Tributarios SII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246120"/>
            <a:ext cx="9418320" cy="36576"/>
          </a:xfrm>
          <a:prstGeom prst="rect">
            <a:avLst/>
          </a:prstGeom>
          <a:solidFill>
            <a:srgbClr val="8EB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6A43C"/>
                </a:solidFill>
                <a:latin typeface="Calibri"/>
              </a:rPr>
              <a:t>Grupo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2377440" cy="594360"/>
          </a:xfrm>
          <a:prstGeom prst="roundRect">
            <a:avLst/>
          </a:prstGeom>
          <a:solidFill>
            <a:srgbClr val="25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Andrea Añasco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4023360"/>
            <a:ext cx="2377440" cy="594360"/>
          </a:xfrm>
          <a:prstGeom prst="roundRect">
            <a:avLst/>
          </a:prstGeom>
          <a:solidFill>
            <a:srgbClr val="25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Gema Sepúlveda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98464" y="4023360"/>
            <a:ext cx="2377440" cy="594360"/>
          </a:xfrm>
          <a:prstGeom prst="roundRect">
            <a:avLst/>
          </a:prstGeom>
          <a:solidFill>
            <a:srgbClr val="25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Karen Rebolledo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0496" y="4023360"/>
            <a:ext cx="2377440" cy="594360"/>
          </a:xfrm>
          <a:prstGeom prst="roundRect">
            <a:avLst/>
          </a:prstGeom>
          <a:solidFill>
            <a:srgbClr val="254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0" sz="1300">
                <a:solidFill>
                  <a:srgbClr val="FFFFFF"/>
                </a:solidFill>
                <a:latin typeface="Calibri"/>
              </a:rPr>
              <a:t>Nicolás Muñoz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  <a:latin typeface="Calibri"/>
              </a:rPr>
              <a:t>Magíster en Dirección Tributaria — Universidad Viña del 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C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C1C1C"/>
                </a:solidFill>
                <a:latin typeface="Cambria"/>
              </a:rPr>
              <a:t>El Esquema — ¿Qué hace Pedro?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10972800" cy="411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b="0" sz="1400">
                <a:solidFill>
                  <a:srgbClr val="555555"/>
                </a:solidFill>
                <a:latin typeface="Calibri"/>
              </a:rPr>
              <a:t>Caso real: un médico y la sociedad que reduce su IGC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03520" cy="164592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b="0" sz="1150">
                <a:solidFill>
                  <a:srgbClr val="FFFFFF"/>
                </a:solidFill>
                <a:latin typeface="Calibri"/>
              </a:rPr>
              <a:t>PEDRO — Médico cirujano</a:t>
            </a:r>
          </a:p>
          <a:p>
            <a:pPr algn="l"/>
            <a:r>
              <a:rPr b="0" sz="1150">
                <a:solidFill>
                  <a:srgbClr val="FFFFFF"/>
                </a:solidFill>
                <a:latin typeface="Calibri"/>
              </a:rPr>
              <a:t>• Ingresos anuales: $300 millones en honorarios</a:t>
            </a:r>
          </a:p>
          <a:p>
            <a:pPr algn="l"/>
            <a:r>
              <a:rPr b="0" sz="1150">
                <a:solidFill>
                  <a:srgbClr val="FFFFFF"/>
                </a:solidFill>
                <a:latin typeface="Calibri"/>
              </a:rPr>
              <a:t>• Sin esquema: tributa en tramo IGC ≈ 40%</a:t>
            </a:r>
          </a:p>
          <a:p>
            <a:pPr algn="l"/>
            <a:r>
              <a:rPr b="0" sz="1150">
                <a:solidFill>
                  <a:srgbClr val="FFFFFF"/>
                </a:solidFill>
                <a:latin typeface="Calibri"/>
              </a:rPr>
              <a:t>• Motivación: reducir impuesto fraccionando el ingreso en varios RUT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554480"/>
            <a:ext cx="5623560" cy="164592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b="0" sz="1150">
                <a:solidFill>
                  <a:srgbClr val="FFFFFF"/>
                </a:solidFill>
                <a:latin typeface="Calibri"/>
              </a:rPr>
              <a:t>EL MECANISMO</a:t>
            </a:r>
          </a:p>
          <a:p>
            <a:pPr algn="l"/>
            <a:r>
              <a:rPr b="0" sz="1150">
                <a:solidFill>
                  <a:srgbClr val="FFFFFF"/>
                </a:solidFill>
                <a:latin typeface="Calibri"/>
              </a:rPr>
              <a:t>Pedro constituye con su señora y su cuñado</a:t>
            </a:r>
          </a:p>
          <a:p>
            <a:pPr algn="l"/>
            <a:r>
              <a:rPr b="0" sz="1150">
                <a:solidFill>
                  <a:srgbClr val="FFFFFF"/>
                </a:solidFill>
                <a:latin typeface="Calibri"/>
              </a:rPr>
              <a:t>la 'Sociedad Médica Ltda.' — 33% c/u</a:t>
            </a:r>
          </a:p>
          <a:p>
            <a:pPr algn="l"/>
            <a:r>
              <a:rPr b="0" sz="115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b="0" sz="1150">
                <a:solidFill>
                  <a:srgbClr val="FFFFFF"/>
                </a:solidFill>
                <a:latin typeface="Calibri"/>
              </a:rPr>
              <a:t>Los $300 MM entran a la sociedad</a:t>
            </a:r>
          </a:p>
          <a:p>
            <a:pPr algn="l"/>
            <a:r>
              <a:rPr b="0" sz="1150">
                <a:solidFill>
                  <a:srgbClr val="FFFFFF"/>
                </a:solidFill>
                <a:latin typeface="Calibri"/>
              </a:rPr>
              <a:t>y se reparten en 3 partes iguales:</a:t>
            </a:r>
          </a:p>
          <a:p>
            <a:pPr algn="l"/>
            <a:r>
              <a:rPr b="0" sz="1150">
                <a:solidFill>
                  <a:srgbClr val="FFFFFF"/>
                </a:solidFill>
                <a:latin typeface="Calibri"/>
              </a:rPr>
              <a:t>→ Pedro, la señora y el cuñado</a:t>
            </a:r>
          </a:p>
          <a:p>
            <a:pPr algn="l"/>
            <a:r>
              <a:rPr b="0" sz="1150">
                <a:solidFill>
                  <a:srgbClr val="FFFFFF"/>
                </a:solidFill>
                <a:latin typeface="Calibri"/>
              </a:rPr>
              <a:t>declaran $100 MM cada uno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29000"/>
            <a:ext cx="2194560" cy="1188720"/>
          </a:xfrm>
          <a:prstGeom prst="roundRect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200">
                <a:solidFill>
                  <a:srgbClr val="1A3A5C"/>
                </a:solidFill>
                <a:latin typeface="Calibri"/>
              </a:rPr>
              <a:t>Pedro</a:t>
            </a:r>
          </a:p>
          <a:p>
            <a:pPr algn="ctr"/>
            <a:r>
              <a:rPr b="1" sz="1200">
                <a:solidFill>
                  <a:srgbClr val="1A3A5C"/>
                </a:solidFill>
                <a:latin typeface="Calibri"/>
              </a:rPr>
              <a:t>médico</a:t>
            </a:r>
          </a:p>
          <a:p>
            <a:pPr algn="ctr"/>
            <a:r>
              <a:rPr b="1" sz="1200">
                <a:solidFill>
                  <a:srgbClr val="1A3A5C"/>
                </a:solidFill>
                <a:latin typeface="Calibri"/>
              </a:rPr>
              <a:t>$300 MM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3794760"/>
            <a:ext cx="192024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b="0" sz="1200">
                <a:solidFill>
                  <a:srgbClr val="555555"/>
                </a:solidFill>
                <a:latin typeface="Calibri"/>
              </a:rPr>
              <a:t>→  honorarios 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3429000"/>
            <a:ext cx="2286000" cy="118872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Sociedad</a:t>
            </a:r>
          </a:p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Médica Ltda.</a:t>
            </a:r>
          </a:p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(vehículo)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3794760"/>
            <a:ext cx="192024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ctr"/>
            <a:r>
              <a:rPr b="0" sz="1200">
                <a:solidFill>
                  <a:srgbClr val="555555"/>
                </a:solidFill>
                <a:latin typeface="Calibri"/>
              </a:rPr>
              <a:t>→  divide 1/3 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3429000"/>
            <a:ext cx="2651760" cy="1188720"/>
          </a:xfrm>
          <a:prstGeom prst="roundRect">
            <a:avLst/>
          </a:prstGeom>
          <a:solidFill>
            <a:srgbClr val="B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Pedro · Señora · Cuñado</a:t>
            </a:r>
          </a:p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$100 MM c/u → IGC tramo bajo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11064240" cy="685800"/>
          </a:xfrm>
          <a:prstGeom prst="roundRect">
            <a:avLst/>
          </a:prstGeom>
          <a:solidFill>
            <a:srgbClr val="C5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RESULTADO: lo que debería tributar al ~40% queda dividido en tres tramos más bajos. El ahorro puede superar los $20–40 MM al año. La señora y el cuñado NUNCA trabajaron para la sociedad.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69280"/>
            <a:ext cx="11064240" cy="45720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400">
                <a:solidFill>
                  <a:srgbClr val="E6A43C"/>
                </a:solidFill>
                <a:latin typeface="Calibri"/>
              </a:rPr>
              <a:t>¿Es esto legal? ¿Abuso o planificación legítima?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6492240"/>
            <a:ext cx="1161288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r"/>
            <a:r>
              <a:rPr b="0" sz="800">
                <a:solidFill>
                  <a:srgbClr val="555555"/>
                </a:solidFill>
                <a:latin typeface="Calibri"/>
              </a:rPr>
              <a:t>Caso 86 · Catálogo SII 2025 · Grupo 4 — Magíster Dirección Tributaria UVM  | 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C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C1C1C"/>
                </a:solidFill>
                <a:latin typeface="Cambria"/>
              </a:rPr>
              <a:t>¿La Sociedad D es Legítima?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10972800" cy="411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b="0" sz="1400">
                <a:solidFill>
                  <a:srgbClr val="555555"/>
                </a:solidFill>
                <a:latin typeface="Calibri"/>
              </a:rPr>
              <a:t>Requisitos legales vs. realidad del Caso 86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6858000" cy="45720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150">
                <a:solidFill>
                  <a:srgbClr val="FFFFFF"/>
                </a:solidFill>
                <a:latin typeface="Calibri"/>
              </a:rPr>
              <a:t>Requisito (Circ. N°21/1991 y N°50/2020)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4114800" cy="45720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150">
                <a:solidFill>
                  <a:srgbClr val="FFFFFF"/>
                </a:solidFill>
                <a:latin typeface="Calibri"/>
              </a:rPr>
              <a:t>¿Cumple el Caso 86?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6858000" cy="62179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Sociedad de personas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057400"/>
            <a:ext cx="4114800" cy="621792"/>
          </a:xfrm>
          <a:prstGeom prst="roundRect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✔  Cumple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24912"/>
            <a:ext cx="6858000" cy="62179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Objeto exclusivo: servicios profesionales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724912"/>
            <a:ext cx="4114800" cy="621792"/>
          </a:xfrm>
          <a:prstGeom prst="roundRect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✔  Cumple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92424"/>
            <a:ext cx="6858000" cy="62179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Servicios prestados por los socios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392424"/>
            <a:ext cx="4114800" cy="621792"/>
          </a:xfrm>
          <a:prstGeom prst="roundRect">
            <a:avLst/>
          </a:prstGeom>
          <a:solidFill>
            <a:srgbClr val="E6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✔  Solo A (Pedro) trabaja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59936"/>
            <a:ext cx="6858000" cy="62179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TODOS los socios ejercen su profesión para la sociedad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059936"/>
            <a:ext cx="4114800" cy="621792"/>
          </a:xfrm>
          <a:prstGeom prst="roundRect">
            <a:avLst/>
          </a:prstGeom>
          <a:solidFill>
            <a:srgbClr val="B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✖  NO — B y C no prestan servicios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27448"/>
            <a:ext cx="6858000" cy="62179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No se acepta que un socio solo aporte capital sin trabajar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4727448"/>
            <a:ext cx="4114800" cy="621792"/>
          </a:xfrm>
          <a:prstGeom prst="roundRect">
            <a:avLst/>
          </a:prstGeom>
          <a:solidFill>
            <a:srgbClr val="B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✖  NO — B y C solo aportan capital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1064240" cy="594360"/>
          </a:xfrm>
          <a:prstGeom prst="roundRect">
            <a:avLst/>
          </a:prstGeom>
          <a:solidFill>
            <a:srgbClr val="B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250">
                <a:solidFill>
                  <a:srgbClr val="FFFFFF"/>
                </a:solidFill>
                <a:latin typeface="Calibri"/>
              </a:rPr>
              <a:t>La sociedad D NO califica como 'sociedad de profesionales'. Sin esa calificación, el esquema cae: no hay amparo legal para la distribución desigual del IGC.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6492240"/>
            <a:ext cx="1161288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r"/>
            <a:r>
              <a:rPr b="0" sz="800">
                <a:solidFill>
                  <a:srgbClr val="555555"/>
                </a:solidFill>
                <a:latin typeface="Calibri"/>
              </a:rPr>
              <a:t>Caso 86 · Catálogo SII 2025 · Grupo 4 — Magíster Dirección Tributaria UVM  | 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C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C1C1C"/>
                </a:solidFill>
                <a:latin typeface="Cambria"/>
              </a:rPr>
              <a:t>¿Abuso o Simulación?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10972800" cy="411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b="0" sz="1400">
                <a:solidFill>
                  <a:srgbClr val="555555"/>
                </a:solidFill>
                <a:latin typeface="Calibri"/>
              </a:rPr>
              <a:t>La calificación correcta define qué norma aplica y qué debe probar el SII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623560" cy="502920"/>
          </a:xfrm>
          <a:prstGeom prst="roundRect">
            <a:avLst/>
          </a:prstGeom>
          <a:solidFill>
            <a:srgbClr val="B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ABUSO  (Art. 4 ter 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623560" cy="4069080"/>
          </a:xfrm>
          <a:prstGeom prst="roundRect">
            <a:avLst/>
          </a:prstGeom>
          <a:solidFill>
            <a:srgbClr val="FD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b="0" sz="1150">
                <a:solidFill>
                  <a:srgbClr val="1C1C1C"/>
                </a:solidFill>
                <a:latin typeface="Calibri"/>
              </a:rPr>
              <a:t>✔  Los actos son REALES: la sociedad existe, los socios son reales, el capital fue aportado.</a:t>
            </a:r>
          </a:p>
          <a:p>
            <a:pPr algn="l"/>
            <a:r>
              <a:rPr b="0" sz="115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b="0" sz="1150">
                <a:solidFill>
                  <a:srgbClr val="1C1C1C"/>
                </a:solidFill>
                <a:latin typeface="Calibri"/>
              </a:rPr>
              <a:t>✔  El PROBLEMA es la FORMA: se usa la figura de 'sociedad de profesionales' para algo que no corresponde.</a:t>
            </a:r>
          </a:p>
          <a:p>
            <a:pPr algn="l"/>
            <a:r>
              <a:rPr b="0" sz="115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b="0" sz="1150">
                <a:solidFill>
                  <a:srgbClr val="1C1C1C"/>
                </a:solidFill>
                <a:latin typeface="Calibri"/>
              </a:rPr>
              <a:t>✔  B y C no aportan valor económico real. Su único rol es absorber utilidades de Pedro para bajar su tramo de IGC.</a:t>
            </a:r>
          </a:p>
          <a:p>
            <a:pPr algn="l"/>
            <a:r>
              <a:rPr b="0" sz="115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b="0" sz="1150">
                <a:solidFill>
                  <a:srgbClr val="1C1C1C"/>
                </a:solidFill>
                <a:latin typeface="Calibri"/>
              </a:rPr>
              <a:t>✔  Único efecto distinto del tributario: NINGUNO.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554480"/>
            <a:ext cx="5623560" cy="502920"/>
          </a:xfrm>
          <a:prstGeom prst="roundRect">
            <a:avLst/>
          </a:prstGeom>
          <a:solidFill>
            <a:srgbClr val="C5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500">
                <a:solidFill>
                  <a:srgbClr val="FFFFFF"/>
                </a:solidFill>
                <a:latin typeface="Calibri"/>
              </a:rPr>
              <a:t>SIMULACIÓN  (Art. 4 quáter CT)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103120"/>
            <a:ext cx="5623560" cy="4069080"/>
          </a:xfrm>
          <a:prstGeom prst="round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b="0" sz="1150">
                <a:solidFill>
                  <a:srgbClr val="1C1C1C"/>
                </a:solidFill>
                <a:latin typeface="Calibri"/>
              </a:rPr>
              <a:t>✖  Requiere que los actos DISIMULEN algo distinto de lo declarado.</a:t>
            </a:r>
          </a:p>
          <a:p>
            <a:pPr algn="l"/>
            <a:r>
              <a:rPr b="0" sz="115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b="0" sz="1150">
                <a:solidFill>
                  <a:srgbClr val="1C1C1C"/>
                </a:solidFill>
                <a:latin typeface="Calibri"/>
              </a:rPr>
              <a:t>✖  En el caso NO hay acto oculto: la sociedad y sus socios son lo que parecen.</a:t>
            </a:r>
          </a:p>
          <a:p>
            <a:pPr algn="l"/>
            <a:r>
              <a:rPr b="0" sz="115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b="0" sz="1150">
                <a:solidFill>
                  <a:srgbClr val="1C1C1C"/>
                </a:solidFill>
                <a:latin typeface="Calibri"/>
              </a:rPr>
              <a:t>✖  No hay divergencia entre voluntad real y declarada.</a:t>
            </a:r>
          </a:p>
          <a:p>
            <a:pPr algn="l"/>
            <a:r>
              <a:rPr b="0" sz="1150">
                <a:solidFill>
                  <a:srgbClr val="1C1C1C"/>
                </a:solidFill>
                <a:latin typeface="Calibri"/>
              </a:rPr>
              <a:t/>
            </a:r>
          </a:p>
          <a:p>
            <a:pPr algn="l"/>
            <a:r>
              <a:rPr b="0" sz="1150">
                <a:solidFill>
                  <a:srgbClr val="1C1C1C"/>
                </a:solidFill>
                <a:latin typeface="Calibri"/>
              </a:rPr>
              <a:t>✖  Ejemplo de simulación: un contrato de 'arriendo' que en realidad es una donación. En el Caso 86 no hay nada oculto.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281928"/>
            <a:ext cx="11064240" cy="45720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400">
                <a:solidFill>
                  <a:srgbClr val="FFFFFF"/>
                </a:solidFill>
                <a:latin typeface="Calibri"/>
              </a:rPr>
              <a:t>POSICIÓN DEL GRUPO:  ABUSO de formas jurídicas — Art. 4 ter 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6492240"/>
            <a:ext cx="1161288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r"/>
            <a:r>
              <a:rPr b="0" sz="800">
                <a:solidFill>
                  <a:srgbClr val="555555"/>
                </a:solidFill>
                <a:latin typeface="Calibri"/>
              </a:rPr>
              <a:t>Caso 86 · Catálogo SII 2025 · Grupo 4 — Magíster Dirección Tributaria UVM  | 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C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C1C1C"/>
                </a:solidFill>
                <a:latin typeface="Cambria"/>
              </a:rPr>
              <a:t>El Impacto en Números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10972800" cy="411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b="0" sz="1400">
                <a:solidFill>
                  <a:srgbClr val="555555"/>
                </a:solidFill>
                <a:latin typeface="Calibri"/>
              </a:rPr>
              <a:t>Ejemplo ilustrativo — ¿Cuánto pierde el Fisco?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743200" cy="45720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Escenario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554480"/>
            <a:ext cx="4023360" cy="45720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¿Quién declara qué?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54480"/>
            <a:ext cx="2286000" cy="45720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Tramo IGC aprox.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0" y="1554480"/>
            <a:ext cx="1828800" cy="45720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100">
                <a:solidFill>
                  <a:srgbClr val="FFFFFF"/>
                </a:solidFill>
                <a:latin typeface="Calibri"/>
              </a:rPr>
              <a:t>Efecto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2743200" cy="960120"/>
          </a:xfrm>
          <a:prstGeom prst="round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050">
                <a:solidFill>
                  <a:srgbClr val="1C1C1C"/>
                </a:solidFill>
                <a:latin typeface="Calibri"/>
              </a:rPr>
              <a:t>Sin esquema</a:t>
            </a:r>
          </a:p>
          <a:p>
            <a:pPr algn="ctr"/>
            <a:r>
              <a:rPr b="1" sz="1050">
                <a:solidFill>
                  <a:srgbClr val="1C1C1C"/>
                </a:solidFill>
                <a:latin typeface="Calibri"/>
              </a:rPr>
              <a:t>(Pedro trabaja solo)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057400"/>
            <a:ext cx="4023360" cy="960120"/>
          </a:xfrm>
          <a:prstGeom prst="round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Pedro declara $300 MM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057400"/>
            <a:ext cx="2286000" cy="960120"/>
          </a:xfrm>
          <a:prstGeom prst="round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0" sz="1050">
                <a:solidFill>
                  <a:srgbClr val="1C1C1C"/>
                </a:solidFill>
                <a:latin typeface="Calibri"/>
              </a:rPr>
              <a:t>Tramo marginal ≈ 40%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2057400"/>
            <a:ext cx="1828800" cy="960120"/>
          </a:xfrm>
          <a:prstGeom prst="round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000">
                <a:solidFill>
                  <a:srgbClr val="1C1C1C"/>
                </a:solidFill>
                <a:latin typeface="Calibri"/>
              </a:rPr>
              <a:t>Tributación</a:t>
            </a:r>
          </a:p>
          <a:p>
            <a:pPr algn="ctr"/>
            <a:r>
              <a:rPr b="1" sz="1000">
                <a:solidFill>
                  <a:srgbClr val="1C1C1C"/>
                </a:solidFill>
                <a:latin typeface="Calibri"/>
              </a:rPr>
              <a:t>correcta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63240"/>
            <a:ext cx="2743200" cy="960120"/>
          </a:xfrm>
          <a:prstGeom prst="roundRect">
            <a:avLst/>
          </a:prstGeom>
          <a:solidFill>
            <a:srgbClr val="FB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050">
                <a:solidFill>
                  <a:srgbClr val="1C1C1C"/>
                </a:solidFill>
                <a:latin typeface="Calibri"/>
              </a:rPr>
              <a:t>Con esquema D</a:t>
            </a:r>
          </a:p>
          <a:p>
            <a:pPr algn="ctr"/>
            <a:r>
              <a:rPr b="1" sz="1050">
                <a:solidFill>
                  <a:srgbClr val="1C1C1C"/>
                </a:solidFill>
                <a:latin typeface="Calibri"/>
              </a:rPr>
              <a:t>(3 socios simbólicos)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063240"/>
            <a:ext cx="4023360" cy="960120"/>
          </a:xfrm>
          <a:prstGeom prst="roundRect">
            <a:avLst/>
          </a:prstGeom>
          <a:solidFill>
            <a:srgbClr val="FB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Pedro $100 MM · Señora $100 MM · Cuñado $100 MM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063240"/>
            <a:ext cx="2286000" cy="960120"/>
          </a:xfrm>
          <a:prstGeom prst="roundRect">
            <a:avLst/>
          </a:prstGeom>
          <a:solidFill>
            <a:srgbClr val="FB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0" sz="1050">
                <a:solidFill>
                  <a:srgbClr val="1C1C1C"/>
                </a:solidFill>
                <a:latin typeface="Calibri"/>
              </a:rPr>
              <a:t>Cada uno en tramo ≈ 23–35%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8360" y="3063240"/>
            <a:ext cx="1828800" cy="960120"/>
          </a:xfrm>
          <a:prstGeom prst="roundRect">
            <a:avLst/>
          </a:prstGeom>
          <a:solidFill>
            <a:srgbClr val="FB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000">
                <a:solidFill>
                  <a:srgbClr val="1C1C1C"/>
                </a:solidFill>
                <a:latin typeface="Calibri"/>
              </a:rPr>
              <a:t>Ahorro fiscal</a:t>
            </a:r>
          </a:p>
          <a:p>
            <a:pPr algn="ctr"/>
            <a:r>
              <a:rPr b="1" sz="1000">
                <a:solidFill>
                  <a:srgbClr val="1C1C1C"/>
                </a:solidFill>
                <a:latin typeface="Calibri"/>
              </a:rPr>
              <a:t>ARTIFICIAL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69080"/>
            <a:ext cx="2743200" cy="960120"/>
          </a:xfrm>
          <a:prstGeom prst="roundRect">
            <a:avLst/>
          </a:prstGeom>
          <a:solidFill>
            <a:srgbClr val="FD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050">
                <a:solidFill>
                  <a:srgbClr val="1C1C1C"/>
                </a:solidFill>
                <a:latin typeface="Calibri"/>
              </a:rPr>
              <a:t>Diferencial</a:t>
            </a:r>
          </a:p>
          <a:p>
            <a:pPr algn="ctr"/>
            <a:r>
              <a:rPr b="1" sz="1050">
                <a:solidFill>
                  <a:srgbClr val="1C1C1C"/>
                </a:solidFill>
                <a:latin typeface="Calibri"/>
              </a:rPr>
              <a:t>(perjuicio fiscal)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4069080"/>
            <a:ext cx="4023360" cy="960120"/>
          </a:xfrm>
          <a:prstGeom prst="roundRect">
            <a:avLst/>
          </a:prstGeom>
          <a:solidFill>
            <a:srgbClr val="FD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Pedro genera el 100% de los ingresos. La señora y el cuñado no atendieron pacientes.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4069080"/>
            <a:ext cx="2286000" cy="960120"/>
          </a:xfrm>
          <a:prstGeom prst="roundRect">
            <a:avLst/>
          </a:prstGeom>
          <a:solidFill>
            <a:srgbClr val="FD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0" sz="1050">
                <a:solidFill>
                  <a:srgbClr val="1C1C1C"/>
                </a:solidFill>
                <a:latin typeface="Calibri"/>
              </a:rPr>
              <a:t>Diferencia real de tramos = ahorro real de Pedro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4069080"/>
            <a:ext cx="1828800" cy="960120"/>
          </a:xfrm>
          <a:prstGeom prst="roundRect">
            <a:avLst/>
          </a:prstGeom>
          <a:solidFill>
            <a:srgbClr val="FD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000">
                <a:solidFill>
                  <a:srgbClr val="1C1C1C"/>
                </a:solidFill>
                <a:latin typeface="Calibri"/>
              </a:rPr>
              <a:t>ABUSO</a:t>
            </a:r>
          </a:p>
          <a:p>
            <a:pPr algn="ctr"/>
            <a:r>
              <a:rPr b="1" sz="1000">
                <a:solidFill>
                  <a:srgbClr val="1C1C1C"/>
                </a:solidFill>
                <a:latin typeface="Calibri"/>
              </a:rPr>
              <a:t>Art. 4 ter 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548640"/>
          </a:xfrm>
          <a:prstGeom prst="roundRect">
            <a:avLst/>
          </a:prstGeom>
          <a:solidFill>
            <a:srgbClr val="B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Si el TTA declara el abuso:  Pedro queda con $300 MM en su IGC + intereses + multas. La señora y el cuñado también deben reliquidar sus IGC. (Art. 4 quinquies CT)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64240" cy="36576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b="0" sz="900">
                <a:solidFill>
                  <a:srgbClr val="555555"/>
                </a:solidFill>
                <a:latin typeface="Calibri"/>
              </a:rPr>
              <a:t>Nota: cifras ilustrativas. El ahorro real depende de los ingresos totales, rentas de los socios y otras deducciones.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6492240"/>
            <a:ext cx="1161288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r"/>
            <a:r>
              <a:rPr b="0" sz="800">
                <a:solidFill>
                  <a:srgbClr val="555555"/>
                </a:solidFill>
                <a:latin typeface="Calibri"/>
              </a:rPr>
              <a:t>Caso 86 · Catálogo SII 2025 · Grupo 4 — Magíster Dirección Tributaria UVM  | 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C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C1C1C"/>
                </a:solidFill>
                <a:latin typeface="Cambria"/>
              </a:rPr>
              <a:t>¿Qué Puede Hacer Pedro?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10972800" cy="411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b="0" sz="1400">
                <a:solidFill>
                  <a:srgbClr val="555555"/>
                </a:solidFill>
                <a:latin typeface="Calibri"/>
              </a:rPr>
              <a:t>5 alternativas legítimas para organizar su actividad profesional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746504"/>
            <a:ext cx="512064" cy="512064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554480"/>
            <a:ext cx="3657600" cy="896112"/>
          </a:xfrm>
          <a:prstGeom prst="roundRect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1" sz="1150">
                <a:solidFill>
                  <a:srgbClr val="FFFFFF"/>
                </a:solidFill>
                <a:latin typeface="Calibri"/>
              </a:rPr>
              <a:t>Profesional independiente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554480"/>
            <a:ext cx="6858000" cy="89611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Pedro emite boletas de honorarios y declara directamente. Puede deducir gastos efectivos o presuntos (30%, tope 15 UTA). Sin riesgo NGA.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688336"/>
            <a:ext cx="512064" cy="512064"/>
          </a:xfrm>
          <a:prstGeom prst="ellipse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496312"/>
            <a:ext cx="3657600" cy="896112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1" sz="1150">
                <a:solidFill>
                  <a:srgbClr val="FFFFFF"/>
                </a:solidFill>
                <a:latin typeface="Calibri"/>
              </a:rPr>
              <a:t>Sociedad con socios que trabajen de verdad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2496312"/>
            <a:ext cx="6858000" cy="89611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Pedro se asocia con otros médicos que efectivamente atiendan pacientes. Cada socio aporta trabajo real → distribución de utilidades legítima.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630168"/>
            <a:ext cx="512064" cy="512064"/>
          </a:xfrm>
          <a:prstGeom prst="ellipse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3438144"/>
            <a:ext cx="3657600" cy="896112"/>
          </a:xfrm>
          <a:prstGeom prst="roundRect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1" sz="1150">
                <a:solidFill>
                  <a:srgbClr val="1A3A5C"/>
                </a:solidFill>
                <a:latin typeface="Calibri"/>
              </a:rPr>
              <a:t>Distribución proporcional al trabajo (misma sociedad)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3438144"/>
            <a:ext cx="6858000" cy="89611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Si D se mantiene: Pedro recibe el 90% de utilidades y B/C el 5% c/u, acorde a su aporte real. Debe haber algún rol efectivo de B y C.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4572000"/>
            <a:ext cx="512064" cy="512064"/>
          </a:xfrm>
          <a:prstGeom prst="ellipse">
            <a:avLst/>
          </a:prstGeom>
          <a:solidFill>
            <a:srgbClr val="C5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4379976"/>
            <a:ext cx="3657600" cy="896112"/>
          </a:xfrm>
          <a:prstGeom prst="roundRect">
            <a:avLst/>
          </a:prstGeom>
          <a:solidFill>
            <a:srgbClr val="C5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1" sz="1150">
                <a:solidFill>
                  <a:srgbClr val="FFFFFF"/>
                </a:solidFill>
                <a:latin typeface="Calibri"/>
              </a:rPr>
              <a:t>SpA — régimen Pro Pyme 14D N°3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4379976"/>
            <a:ext cx="6858000" cy="89611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Pedro constituye SpA. IDPC al 25%; Pedro paga IGC sobre retiros. Permite reinversión y planificación. Exige sustancia económica.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5513832"/>
            <a:ext cx="512064" cy="512064"/>
          </a:xfrm>
          <a:prstGeom prst="ellipse">
            <a:avLst/>
          </a:prstGeom>
          <a:solidFill>
            <a:srgbClr val="E6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5321808"/>
            <a:ext cx="3657600" cy="896112"/>
          </a:xfrm>
          <a:prstGeom prst="roundRect">
            <a:avLst/>
          </a:prstGeom>
          <a:solidFill>
            <a:srgbClr val="E6A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1" sz="1150">
                <a:solidFill>
                  <a:srgbClr val="FFFFFF"/>
                </a:solidFill>
                <a:latin typeface="Calibri"/>
              </a:rPr>
              <a:t>Régimen Transparente 14D N°8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5321808"/>
            <a:ext cx="6858000" cy="89611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La empresa no paga IDPC; socios pagan IGC directo. Solo válido si los socios tienen rol económico real; no resuelve el problema si B y C siguen sin trabajar.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6492240"/>
            <a:ext cx="1161288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r"/>
            <a:r>
              <a:rPr b="0" sz="800">
                <a:solidFill>
                  <a:srgbClr val="555555"/>
                </a:solidFill>
                <a:latin typeface="Calibri"/>
              </a:rPr>
              <a:t>Caso 86 · Catálogo SII 2025 · Grupo 4 — Magíster Dirección Tributaria UVM  | 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BCB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1C1C1C"/>
                </a:solidFill>
                <a:latin typeface="Cambria"/>
              </a:rPr>
              <a:t>Conclusiones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0972800" cy="4114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/>
            <a:r>
              <a:rPr b="0" sz="1400">
                <a:solidFill>
                  <a:srgbClr val="555555"/>
                </a:solidFill>
                <a:latin typeface="Calibri"/>
              </a:rPr>
              <a:t>Caso 86 — ¿Qué aprendemos?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746504"/>
            <a:ext cx="512064" cy="512064"/>
          </a:xfrm>
          <a:prstGeom prst="ellipse">
            <a:avLst/>
          </a:prstGeom>
          <a:solidFill>
            <a:srgbClr val="B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600200"/>
            <a:ext cx="2926080" cy="804672"/>
          </a:xfrm>
          <a:prstGeom prst="roundRect">
            <a:avLst/>
          </a:prstGeom>
          <a:solidFill>
            <a:srgbClr val="B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1" sz="1150">
                <a:solidFill>
                  <a:srgbClr val="FFFFFF"/>
                </a:solidFill>
                <a:latin typeface="Calibri"/>
              </a:rPr>
              <a:t>Abuso, no simulación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00200"/>
            <a:ext cx="7589520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Los actos son reales. El problema es la FORMA inapropiada. La sociedad y los socios existen, pero B y C no aportan valor económico real.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24328"/>
            <a:ext cx="512064" cy="512064"/>
          </a:xfrm>
          <a:prstGeom prst="ellipse">
            <a:avLst/>
          </a:prstGeom>
          <a:solidFill>
            <a:srgbClr val="C5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478024"/>
            <a:ext cx="2926080" cy="804672"/>
          </a:xfrm>
          <a:prstGeom prst="roundRect">
            <a:avLst/>
          </a:prstGeom>
          <a:solidFill>
            <a:srgbClr val="C5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1" sz="1150">
                <a:solidFill>
                  <a:srgbClr val="FFFFFF"/>
                </a:solidFill>
                <a:latin typeface="Calibri"/>
              </a:rPr>
              <a:t>La sociedad D no califica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478024"/>
            <a:ext cx="7589520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Sin cumplir los requisitos de las Circulares N°21/1991 y N°50/2020, D no es sociedad de profesionales → el esquema no tiene amparo legal.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02152"/>
            <a:ext cx="512064" cy="512064"/>
          </a:xfrm>
          <a:prstGeom prst="ellipse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3355848"/>
            <a:ext cx="2926080" cy="804672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1" sz="1150">
                <a:solidFill>
                  <a:srgbClr val="FFFFFF"/>
                </a:solidFill>
                <a:latin typeface="Calibri"/>
              </a:rPr>
              <a:t>El SII puede actuar — consecuencias concretas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3355848"/>
            <a:ext cx="7589520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Art. 4 quinquies CT: declaración de abuso ante el TTA → Pedro recibe los $300 MM íntegros en su IGC + intereses + multas.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379976"/>
            <a:ext cx="512064" cy="512064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4233672"/>
            <a:ext cx="2926080" cy="804672"/>
          </a:xfrm>
          <a:prstGeom prst="roundRect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1" sz="1150">
                <a:solidFill>
                  <a:srgbClr val="FFFFFF"/>
                </a:solidFill>
                <a:latin typeface="Calibri"/>
              </a:rPr>
              <a:t>La clave: sustancia económica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4233672"/>
            <a:ext cx="7589520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Cualquier estructura es aceptable si cada socio aporta trabajo real, capital relevante, clientela o dirección. La forma jurídica sola no basta.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257800"/>
            <a:ext cx="512064" cy="512064"/>
          </a:xfrm>
          <a:prstGeom prst="ellipse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A3A5C"/>
                </a:solidFill>
                <a:latin typeface="Calibri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5111496"/>
            <a:ext cx="2926080" cy="804672"/>
          </a:xfrm>
          <a:prstGeom prst="roundRect">
            <a:avLst/>
          </a:prstGeom>
          <a:solidFill>
            <a:srgbClr val="8EB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1" sz="1150">
                <a:solidFill>
                  <a:srgbClr val="1A3A5C"/>
                </a:solidFill>
                <a:latin typeface="Calibri"/>
              </a:rPr>
              <a:t>Mensaje del Caso 86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5111496"/>
            <a:ext cx="7589520" cy="804672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b="0" sz="1050">
                <a:solidFill>
                  <a:srgbClr val="1C1C1C"/>
                </a:solidFill>
                <a:latin typeface="Calibri"/>
              </a:rPr>
              <a:t>Planificación tributaria ≠ abuso. El límite está en la sustancia económica. Si el único motivo es el ahorro fiscal, el SII tiene herramientas para actuar.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400800"/>
            <a:ext cx="11064240" cy="32004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Grupo 4: Andrea Añasco · Gema Sepúlveda · Karen Rebolledo · Nicolás Muñoz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6492240"/>
            <a:ext cx="11612880" cy="2743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r"/>
            <a:r>
              <a:rPr b="0" sz="800">
                <a:solidFill>
                  <a:srgbClr val="555555"/>
                </a:solidFill>
                <a:latin typeface="Calibri"/>
              </a:rPr>
              <a:t>Caso 86 · Catálogo SII 2025 · Grupo 4 — Magíster Dirección Tributaria UVM  |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