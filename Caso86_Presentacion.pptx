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1C1C1C"/>
                </a:solidFill>
                <a:latin typeface="Cambria"/>
              </a:rPr>
              <a:t>Análisis jurídico — Requisitos de la sociedad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0" cy="50292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Verificación de los requisitos (Circ. N°21/1991 y N°50/2020 SII)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603504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Requisito copulativo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828800"/>
            <a:ext cx="352044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¿Se cumple en el Caso 86?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60350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Debe tratarse de una sociedad de personas.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331720"/>
            <a:ext cx="3520440" cy="548640"/>
          </a:xfrm>
          <a:prstGeom prst="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Cumple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26080"/>
            <a:ext cx="60350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Objeto exclusivo: prestación de servicios o asesorías profesionales.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926080"/>
            <a:ext cx="3520440" cy="548640"/>
          </a:xfrm>
          <a:prstGeom prst="rect">
            <a:avLst/>
          </a:prstGeom>
          <a:solidFill>
            <a:srgbClr val="1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Cumple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60350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Servicios prestados por intermedio de sus socios.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520440"/>
            <a:ext cx="3520440" cy="548640"/>
          </a:xfrm>
          <a:prstGeom prst="rect">
            <a:avLst/>
          </a:prstGeom>
          <a:solidFill>
            <a:srgbClr val="E6A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Solo A presta servicios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14800"/>
            <a:ext cx="60350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TODOS los socios deben ejercer su profesión para la sociedad.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4114800"/>
            <a:ext cx="3520440" cy="548640"/>
          </a:xfrm>
          <a:prstGeom prst="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NO CUMPLE — B y C no prestan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709160"/>
            <a:ext cx="60350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No es aceptable que un socio solo aporte capital sin ejercer profesión.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09160"/>
            <a:ext cx="3520440" cy="548640"/>
          </a:xfrm>
          <a:prstGeom prst="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NO CUMPLE — B y C solo aportan capital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303520"/>
            <a:ext cx="60350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La realización efectiva de labores profesionales es lo relevante, no la forma de remuneración.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303520"/>
            <a:ext cx="3520440" cy="548640"/>
          </a:xfrm>
          <a:prstGeom prst="rect">
            <a:avLst/>
          </a:prstGeom>
          <a:solidFill>
            <a:srgbClr val="B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Solo A realiza labor profesional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1828800"/>
            <a:ext cx="1691640" cy="42976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37160"/>
          <a:lstStyle/>
          <a:p>
            <a:pPr algn="ctr"/>
            <a:r>
              <a:rPr sz="1600" b="1">
                <a:solidFill>
                  <a:srgbClr val="C5501A"/>
                </a:solidFill>
                <a:latin typeface="Calibri"/>
              </a:rPr>
              <a:t>RESULTADO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1C1C1C"/>
                </a:solidFill>
                <a:latin typeface="Calibri"/>
              </a:rPr>
              <a:t>
La sociedad D NO califica como sociedad de profesionales del Art. 42 N°2 inc. 3° LIR, al incumplir requisitos copulativos de las Circulares N°21/1991 y N°50/2020.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1C1C1C"/>
                </a:solidFill>
                <a:latin typeface="Cambria"/>
              </a:rPr>
              <a:t>Normas Generales Antielusivas (NGA)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0" cy="50292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Marco aplicable — Código Tributario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48006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Art. 4 bis CT  ·  Principio de buena fe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800600" cy="1691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Las obligaciones tributarias nacen y se exigen con arreglo a la naturaleza jurídica de los hechos, cualquiera sea la forma o denominación que los interesados les hubieren dado.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32120" y="1828800"/>
            <a:ext cx="48006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Art. 4 ter CT  ·  Abuso de las formas jurídicas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32120" y="2286000"/>
            <a:ext cx="4800600" cy="1691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Hay abuso cuando se evita total o parcialmente el hecho gravado, o se disminuye la base imponible u obligación, mediante actos que no produzcan resultados o efectos jurídicos o económicos relevantes distintos de los meramente tributarios.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160520"/>
            <a:ext cx="48006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Art. 4 quáter CT  ·  Simulación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4800600" cy="1691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Habrá simulación cuando los actos o negocios disimulen la configuración del hecho gravado o la naturaleza de los elementos constitutivos de la obligación tributaria, o su verdadero monto o data de nacimiento.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32120" y="4160520"/>
            <a:ext cx="48006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Art. 4 quinquies CT  ·  Procedimiento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4617720"/>
            <a:ext cx="4800600" cy="1691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La existencia de abuso o simulación será declarada por el Tribunal Tributario y Aduanero, a requerimiento del Director del SII. Instrucciones: Circular N°65 de 2015.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20" y="1828800"/>
            <a:ext cx="1691640" cy="448056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37160"/>
          <a:lstStyle/>
          <a:p>
            <a:pPr algn="ctr"/>
            <a:r>
              <a:rPr sz="1600" b="1">
                <a:solidFill>
                  <a:srgbClr val="C5501A"/>
                </a:solidFill>
                <a:latin typeface="Calibri"/>
              </a:rPr>
              <a:t>RESULTADO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1C1C1C"/>
                </a:solidFill>
                <a:latin typeface="Calibri"/>
              </a:rPr>
              <a:t>
Las NGA fueron incorporadas por la Ley N°20.780 (2014) y modificadas por la Ley N°21.210 (2020). La Circular N°65 de 2015 imparte instrucciones para su aplicación.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1C1C1C"/>
                </a:solidFill>
                <a:latin typeface="Cambria"/>
              </a:rPr>
              <a:t>¿Abuso o Simulación?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0" cy="50292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Calificación del esquema bajo las 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461772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ABUSO  (Art. 4 ter 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617720" cy="3840480"/>
          </a:xfrm>
          <a:prstGeom prst="rect">
            <a:avLst/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• Los actos son REALES: la sociedad D existe, los socios son reales, hay capital aportado y distribución efectiva de utilidades.</a:t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• La FORMA jurídica utilizada es inapropiada para el sustrato económico: la sociedad de profesionales no está prevista para canalizar el trabajo individual de un solo socio.</a:t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• B y C no producen efectos jurídicos ni económicos relevantes distintos del meramente tributario.</a:t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• Único efecto: reducción de la progresión del IGC del socio 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49240" y="1828800"/>
            <a:ext cx="461772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SIMULACIÓN  (Art. 4 quáter CT)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9240" y="2286000"/>
            <a:ext cx="4617720" cy="384048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• Requiere divergencia consciente entre la voluntad real y la declarada.</a:t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• Supone la existencia de un acto secreto u oculto que se disimula bajo otro aparente (negocio jurídico simulado).</a:t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• En el Caso 86 NO existe acto disimulado: la sociedad y los socios son lo que aparentan ser; los actos societarios y la distribución de utilidades son reales.</a:t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• Se descarta la figura de simulación para este esquema.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32720" y="1828800"/>
            <a:ext cx="1691640" cy="42976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37160"/>
          <a:lstStyle/>
          <a:p>
            <a:pPr algn="ctr"/>
            <a:r>
              <a:rPr sz="1600" b="1">
                <a:solidFill>
                  <a:srgbClr val="C5501A"/>
                </a:solidFill>
                <a:latin typeface="Calibri"/>
              </a:rPr>
              <a:t>RESULTADO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1C1C1C"/>
                </a:solidFill>
                <a:latin typeface="Calibri"/>
              </a:rPr>
              <a:t>
Posición del grupo:
El Caso 86 configura ABUSO de las formas jurídicas (Art. 4 ter CT), no simulación.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1C1C1C"/>
                </a:solidFill>
                <a:latin typeface="Cambria"/>
              </a:rPr>
              <a:t>Fundamentos del abuso — Art. 4 ter 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0" cy="50292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Los tres elementos están presentes en el Caso 86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96012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Elemento 1 — Evitar o disminuir la obligación tributaria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9601200" cy="960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El esquema diluye los ingresos del socio A en tres tramos independientes de IGC, reduciendo la tasa marginal efectiva. La carga tributaria del contribuyente A disminuye en relación a la que correspondería si los ingresos los percibiera directamente como independiente del Art. 42 N°2 LIR o como único prestador del servicio.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319272"/>
            <a:ext cx="96012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Elemento 2 — Ausencia de efectos jurídicos o económicos relevantes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76472"/>
            <a:ext cx="9601200" cy="960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La participación de B y C no produce efectos relevantes distintos del tributario:</a:t>
            </a:r>
          </a:p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•  No prestan servicios profesionales para la sociedad.</a:t>
            </a:r>
          </a:p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•  No tienen rol estratégico ni decisional.</a:t>
            </a:r>
          </a:p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•  El capital aportado no es significativo en relación a los ingresos.</a:t>
            </a:r>
          </a:p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•  Su única función es absorber utilidades para diluir el IGC de 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9744"/>
            <a:ext cx="96012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Elemento 3 — Forma jurídica inapropiada para el sustrato económico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266944"/>
            <a:ext cx="9601200" cy="960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La figura 'sociedad de profesionales' (Art. 42 N°2 inc. 3° LIR) está prevista para profesionales que efectivamente trabajan en conjunto, según lo precisan las Circulares N°21/1991 y N°50/2020 del SII. Utilizarla para canalizar el trabajo individual de un solo socio constituye una utilización abusiva de la institución jurídica.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20" y="1828800"/>
            <a:ext cx="1691640" cy="45262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37160"/>
          <a:lstStyle/>
          <a:p>
            <a:pPr algn="ctr"/>
            <a:r>
              <a:rPr sz="1600" b="1">
                <a:solidFill>
                  <a:srgbClr val="C5501A"/>
                </a:solidFill>
                <a:latin typeface="Calibri"/>
              </a:rPr>
              <a:t>RESULTADO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1C1C1C"/>
                </a:solidFill>
                <a:latin typeface="Calibri"/>
              </a:rPr>
              <a:t>
Configurándose los tres elementos del Art. 4 ter CT, el Director del SII puede requerir al TTA la declaración de abuso (Art. 4 quinquies CT).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1C1C1C"/>
                </a:solidFill>
                <a:latin typeface="Cambria"/>
              </a:rPr>
              <a:t>Efecto tributario del esquema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0" cy="50292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Comparación ilustrativa — Dilución de la progresión del IGC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27432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3337560" y="1828800"/>
            <a:ext cx="338328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Atribución de la renta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828800"/>
            <a:ext cx="18288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Tramo marginal IGC aprox.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150876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2743200" cy="100584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1">
                <a:solidFill>
                  <a:srgbClr val="1C1C1C"/>
                </a:solidFill>
                <a:latin typeface="Calibri"/>
              </a:rPr>
              <a:t>Sin esquema</a:t>
            </a:r>
          </a:p>
          <a:p>
            <a:pPr algn="l"/>
            <a:r>
              <a:rPr sz="1050" b="1">
                <a:solidFill>
                  <a:srgbClr val="1C1C1C"/>
                </a:solidFill>
                <a:latin typeface="Calibri"/>
              </a:rPr>
              <a:t>(A trabaja solo, sin sociedad)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331720"/>
            <a:ext cx="3383280" cy="100584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A declara el total de los ingresos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331720"/>
            <a:ext cx="1828800" cy="100584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50" b="0">
                <a:solidFill>
                  <a:srgbClr val="1C1C1C"/>
                </a:solidFill>
                <a:latin typeface="Calibri"/>
              </a:rPr>
              <a:t>Tramo alto (≈40%)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2331720"/>
            <a:ext cx="1508760" cy="100584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00" b="1">
                <a:solidFill>
                  <a:srgbClr val="1C1C1C"/>
                </a:solidFill>
                <a:latin typeface="Calibri"/>
              </a:rPr>
              <a:t>Tributación</a:t>
            </a:r>
          </a:p>
          <a:p>
            <a:pPr algn="ctr"/>
            <a:r>
              <a:rPr sz="1000" b="1">
                <a:solidFill>
                  <a:srgbClr val="1C1C1C"/>
                </a:solidFill>
                <a:latin typeface="Calibri"/>
              </a:rPr>
              <a:t>correcta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2743200" cy="1005840"/>
          </a:xfrm>
          <a:prstGeom prst="rect">
            <a:avLst/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1">
                <a:solidFill>
                  <a:srgbClr val="1C1C1C"/>
                </a:solidFill>
                <a:latin typeface="Calibri"/>
              </a:rPr>
              <a:t>Con esquema D</a:t>
            </a:r>
          </a:p>
          <a:p>
            <a:pPr algn="l"/>
            <a:r>
              <a:rPr sz="1050" b="1">
                <a:solidFill>
                  <a:srgbClr val="1C1C1C"/>
                </a:solidFill>
                <a:latin typeface="Calibri"/>
              </a:rPr>
              <a:t>(3 socios, capital simbólico)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383280"/>
            <a:ext cx="3383280" cy="1005840"/>
          </a:xfrm>
          <a:prstGeom prst="rect">
            <a:avLst/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A : B : C en partes iguales (33,33% c/u)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3383280"/>
            <a:ext cx="1828800" cy="1005840"/>
          </a:xfrm>
          <a:prstGeom prst="rect">
            <a:avLst/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50" b="0">
                <a:solidFill>
                  <a:srgbClr val="1C1C1C"/>
                </a:solidFill>
                <a:latin typeface="Calibri"/>
              </a:rPr>
              <a:t>Cada socio en tramo medio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3383280"/>
            <a:ext cx="1508760" cy="1005840"/>
          </a:xfrm>
          <a:prstGeom prst="rect">
            <a:avLst/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00" b="1">
                <a:solidFill>
                  <a:srgbClr val="1C1C1C"/>
                </a:solidFill>
                <a:latin typeface="Calibri"/>
              </a:rPr>
              <a:t>Ahorro fiscal</a:t>
            </a:r>
          </a:p>
          <a:p>
            <a:pPr algn="ctr"/>
            <a:r>
              <a:rPr sz="1000" b="1">
                <a:solidFill>
                  <a:srgbClr val="1C1C1C"/>
                </a:solidFill>
                <a:latin typeface="Calibri"/>
              </a:rPr>
              <a:t>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34840"/>
            <a:ext cx="2743200" cy="100584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1">
                <a:solidFill>
                  <a:srgbClr val="1C1C1C"/>
                </a:solidFill>
                <a:latin typeface="Calibri"/>
              </a:rPr>
              <a:t>Diferencial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4434840"/>
            <a:ext cx="3383280" cy="100584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Los ingresos los genera íntegramente el socio 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4434840"/>
            <a:ext cx="1828800" cy="100584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50" b="0">
                <a:solidFill>
                  <a:srgbClr val="1C1C1C"/>
                </a:solidFill>
                <a:latin typeface="Calibri"/>
              </a:rPr>
              <a:t>Disminución total del IGC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434840"/>
            <a:ext cx="1508760" cy="100584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000" b="1">
                <a:solidFill>
                  <a:srgbClr val="1C1C1C"/>
                </a:solidFill>
                <a:latin typeface="Calibri"/>
              </a:rPr>
              <a:t>ABUSO</a:t>
            </a:r>
          </a:p>
          <a:p>
            <a:pPr algn="ctr"/>
            <a:r>
              <a:rPr sz="1000" b="1">
                <a:solidFill>
                  <a:srgbClr val="1C1C1C"/>
                </a:solidFill>
                <a:latin typeface="Calibri"/>
              </a:rPr>
              <a:t>Art. 4 ter 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32120"/>
            <a:ext cx="96012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Nota: las tasas son ilustrativas. El perjuicio fiscal real dependerá del monto efectivo de los ingresos y otras rentas de cada socio.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1828800"/>
            <a:ext cx="1691640" cy="45262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37160"/>
          <a:lstStyle/>
          <a:p>
            <a:pPr algn="ctr"/>
            <a:r>
              <a:rPr sz="1600" b="1">
                <a:solidFill>
                  <a:srgbClr val="C5501A"/>
                </a:solidFill>
                <a:latin typeface="Calibri"/>
              </a:rPr>
              <a:t>RESULTADO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1C1C1C"/>
                </a:solidFill>
                <a:latin typeface="Calibri"/>
              </a:rPr>
              <a:t>
Declarado el abuso, el efecto es la recalificación: atribución íntegra de los ingresos al socio A para el cálculo del IGC, con intereses y multas.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1C1C1C"/>
                </a:solidFill>
                <a:latin typeface="Cambria"/>
              </a:rPr>
              <a:t>Alternativas legítimas de solución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0" cy="50292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Estructuras conforme al ordenamiento tributario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96012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Alternativa 1 — Profesional independiente (Art. 42 N°2 LIR)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9601200" cy="960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El socio A ejerce como persona natural independiente, emite boletas de honorarios y declara en segunda categoría. Puede optar entre gastos efectivos o presuntos (30% con tope de 15 UTA). Tributa con IGC sobre la totalidad de los ingresos. Opción simple, sin exposición a NGA.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319272"/>
            <a:ext cx="96012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Alternativa 2 — Sociedad de profesionales con socios que ejerzan profesión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76472"/>
            <a:ext cx="9601200" cy="960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Si A desea asociarse, debe hacerlo con profesionales que efectivamente coadyuven a la prestación de servicios para la sociedad. En ese caso D califica legítimamente como sociedad de profesionales y puede optar por tributar en primera o segunda categoría conforme al Art. 42 N°2 inc. 3° LIR.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9744"/>
            <a:ext cx="96012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Alternativa 3 — Distribución de utilidades proporcional al trabajo real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266944"/>
            <a:ext cx="9601200" cy="960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Manteniendo a A, B y C como socios, los estatutos pueden contemplar:</a:t>
            </a:r>
          </a:p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(i) participación social diferenciada acorde al aporte efectivo (ej. A 90%, B 5%, C 5%); o</a:t>
            </a:r>
          </a:p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(ii) sueldo patronal a A previo al reparto de utilidades.</a:t>
            </a:r>
          </a:p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La distribución debe reflejar la realidad económica del aporte.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20" y="1828800"/>
            <a:ext cx="1691640" cy="45262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37160"/>
          <a:lstStyle/>
          <a:p>
            <a:pPr algn="ctr"/>
            <a:r>
              <a:rPr sz="1600" b="1">
                <a:solidFill>
                  <a:srgbClr val="C5501A"/>
                </a:solidFill>
                <a:latin typeface="Calibri"/>
              </a:rPr>
              <a:t>RESULTADO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1C1C1C"/>
                </a:solidFill>
                <a:latin typeface="Calibri"/>
              </a:rPr>
              <a:t>
Toda alternativa debe poder acreditar SUSTANCIA ECONÓMICA REAL. La sola existencia formal de la figura no es suficiente.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1C1C1C"/>
                </a:solidFill>
                <a:latin typeface="Cambria"/>
              </a:rPr>
              <a:t>Alternativas legítimas de solución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0" cy="50292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Vehículos societarios con sustancia económica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96012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Alternativa 4 — SpA acogida al régimen Pro Pyme 14 D N°3 LIR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960120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Constitución de Sociedad por Acciones (SpA) acogida al régimen Pro Pyme General del Art. 14 letra D N°3 de la LIR, con tasa de IDPC del 25%. Permite planificación de retiros y reinversión. No tiene las restricciones específicas de la sociedad de profesionales del Art. 42 N°2, pero exige sustancia económica real en la sociedad.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49040"/>
            <a:ext cx="9601200" cy="4572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Alternativa 5 — Régimen Pro Pyme Transparente — 14 D N°8 LIR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206240"/>
            <a:ext cx="960120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050" b="0">
                <a:solidFill>
                  <a:srgbClr val="1C1C1C"/>
                </a:solidFill>
                <a:latin typeface="Calibri"/>
              </a:rPr>
              <a:t>Si los socios son únicamente personas naturales, puede evaluarse el régimen transparente del Art. 14 letra D N°8 LIR: la empresa no paga IDPC y los socios tributan directamente con IGC. ATENCIÓN: este régimen no resuelve el problema de fondo si B y C siguen siendo socios sin sustancia económica real; el SII puede igualmente aplicar las NGA.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32720" y="1828800"/>
            <a:ext cx="1691640" cy="45262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37160"/>
          <a:lstStyle/>
          <a:p>
            <a:pPr algn="ctr"/>
            <a:r>
              <a:rPr sz="1600" b="1">
                <a:solidFill>
                  <a:srgbClr val="C5501A"/>
                </a:solidFill>
                <a:latin typeface="Calibri"/>
              </a:rPr>
              <a:t>RESULTADO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1C1C1C"/>
                </a:solidFill>
                <a:latin typeface="Calibri"/>
              </a:rPr>
              <a:t>
La elección de la estructura dependerá de los objetivos del contribuyente, el nivel de ingresos y la composición real del equipo profesional.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1C1C1C"/>
                </a:solidFill>
                <a:latin typeface="Cambria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0" cy="50292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800" b="1" u="sng">
                <a:solidFill>
                  <a:srgbClr val="E6A43C"/>
                </a:solidFill>
                <a:latin typeface="Calibri"/>
              </a:rPr>
              <a:t>Caso 86 — Síntesis del análisis del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9601200" cy="777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1.  El esquema configura ABUSO de las formas jurídicas (Art. 4 ter CT). No es simulación: los actos son reales, pero la forma jurídica es inapropiada para el sustrato económico que se quiere amparar.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70048"/>
            <a:ext cx="9601200" cy="777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2.  La sociedad D NO califica como sociedad de profesionales conforme a las Circulares N°21/1991 y N°50/2020 del SII, dado que B y C no ejercen su profesión para la sociedad.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11296"/>
            <a:ext cx="9601200" cy="777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3.  Configurándose los tres elementos del Art. 4 ter CT, el Director del SII puede requerir al Tribunal Tributario y Aduanero la declaración de abuso (Art. 4 quinquies CT), con atribución íntegra de los ingresos al socio A, más intereses y multas.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352544"/>
            <a:ext cx="9601200" cy="777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4.  Existen alternativas legítimas de organización tributaria (profesional independiente, sociedad de profesionales con socios reales, distribución proporcional al trabajo, SpA Pro Pyme).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93792"/>
            <a:ext cx="9601200" cy="777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5.  Toda estructura debe poder acreditar SUSTANCIA ECONÓMICA REAL. La sola forma jurídica no es suficiente; el SII y los tribunales exigirán demostración del aporte efectivo de cada socio (trabajo, capital, clientela o dirección).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32720" y="1828800"/>
            <a:ext cx="1691640" cy="45262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37160"/>
          <a:lstStyle/>
          <a:p>
            <a:pPr algn="ctr"/>
            <a:r>
              <a:rPr sz="1600" b="1">
                <a:solidFill>
                  <a:srgbClr val="C5501A"/>
                </a:solidFill>
                <a:latin typeface="Calibri"/>
              </a:rPr>
              <a:t>RESULTADO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1C1C1C"/>
                </a:solidFill>
                <a:latin typeface="Calibri"/>
              </a:rPr>
              <a:t>
El Caso 86 ilustra el límite entre la planificación tributaria legítima y el abuso: la forma jurídica debe estar respaldada por sustancia económica real.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E6A43C"/>
                </a:solidFill>
                <a:latin typeface="Cambria"/>
              </a:rPr>
              <a:t>Grupo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Caso 86 — Catálogo de Esquemas Tributarios SII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657600"/>
            <a:ext cx="2240280" cy="6400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400" b="1">
                <a:solidFill>
                  <a:srgbClr val="C5501A"/>
                </a:solidFill>
                <a:latin typeface="Calibri"/>
              </a:rPr>
              <a:t>Andrea Añasco</a:t>
            </a:r>
          </a:p>
        </p:txBody>
      </p:sp>
      <p:sp>
        <p:nvSpPr>
          <p:cNvPr id="6" name="Rectangle 5"/>
          <p:cNvSpPr/>
          <p:nvPr/>
        </p:nvSpPr>
        <p:spPr>
          <a:xfrm>
            <a:off x="3776472" y="3657600"/>
            <a:ext cx="2240280" cy="6400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400" b="1">
                <a:solidFill>
                  <a:srgbClr val="C5501A"/>
                </a:solidFill>
                <a:latin typeface="Calibri"/>
              </a:rPr>
              <a:t>Gema Sepúlveda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1344" y="3657600"/>
            <a:ext cx="2240280" cy="6400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400" b="1">
                <a:solidFill>
                  <a:srgbClr val="C5501A"/>
                </a:solidFill>
                <a:latin typeface="Calibri"/>
              </a:rPr>
              <a:t>Karen Rebolledo</a:t>
            </a:r>
          </a:p>
        </p:txBody>
      </p:sp>
      <p:sp>
        <p:nvSpPr>
          <p:cNvPr id="8" name="Rectangle 7"/>
          <p:cNvSpPr/>
          <p:nvPr/>
        </p:nvSpPr>
        <p:spPr>
          <a:xfrm>
            <a:off x="8586216" y="3657600"/>
            <a:ext cx="2240280" cy="640080"/>
          </a:xfrm>
          <a:prstGeom prst="rect">
            <a:avLst/>
          </a:prstGeom>
          <a:solidFill>
            <a:srgbClr val="FDE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400" b="1">
                <a:solidFill>
                  <a:srgbClr val="C5501A"/>
                </a:solidFill>
                <a:latin typeface="Calibri"/>
              </a:rPr>
              <a:t>Nicolás Muñoz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Calibri"/>
              </a:rPr>
              <a:t>Magíster en Dirección Tributaria — Universidad Viña del Mar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