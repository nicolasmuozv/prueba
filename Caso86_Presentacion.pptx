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0" y="0"/>
            <a:ext cx="1218895" cy="6858000"/>
          </a:xfrm>
          <a:prstGeom prst="rect">
            <a:avLst/>
          </a:prstGeom>
          <a:solidFill>
            <a:srgbClr val="254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0" y="0"/>
            <a:ext cx="54864" cy="6858000"/>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28600"/>
            <a:ext cx="9601200" cy="365760"/>
          </a:xfrm>
          <a:prstGeom prst="rect">
            <a:avLst/>
          </a:prstGeom>
          <a:noFill/>
        </p:spPr>
        <p:txBody>
          <a:bodyPr wrap="square" lIns="0" rIns="0" tIns="0" bIns="0" anchor="t">
            <a:spAutoFit/>
          </a:bodyPr>
          <a:lstStyle/>
          <a:p>
            <a:pPr algn="l"/>
            <a:r>
              <a:rPr sz="950" b="0" i="0">
                <a:solidFill>
                  <a:srgbClr val="AABBCC"/>
                </a:solidFill>
                <a:latin typeface="Calibri"/>
              </a:rPr>
              <a:t>MAGÍSTER EN DIRECCIÓN TRIBUTARIA  —  UNIVERSIDAD VIÑA DEL MAR</a:t>
            </a:r>
          </a:p>
        </p:txBody>
      </p:sp>
      <p:sp>
        <p:nvSpPr>
          <p:cNvPr id="7" name="TextBox 6"/>
          <p:cNvSpPr txBox="1"/>
          <p:nvPr/>
        </p:nvSpPr>
        <p:spPr>
          <a:xfrm>
            <a:off x="548640" y="731520"/>
            <a:ext cx="8229600" cy="2011680"/>
          </a:xfrm>
          <a:prstGeom prst="rect">
            <a:avLst/>
          </a:prstGeom>
          <a:noFill/>
        </p:spPr>
        <p:txBody>
          <a:bodyPr wrap="square" lIns="0" rIns="0" tIns="0" bIns="0" anchor="t">
            <a:spAutoFit/>
          </a:bodyPr>
          <a:lstStyle/>
          <a:p>
            <a:pPr algn="l"/>
            <a:r>
              <a:rPr sz="4000" b="1" i="0">
                <a:solidFill>
                  <a:srgbClr val="FFFFFF"/>
                </a:solidFill>
                <a:latin typeface="Calibri"/>
              </a:rPr>
              <a:t>Análisis Catálogo de
Esquemas Tributarios</a:t>
            </a:r>
          </a:p>
        </p:txBody>
      </p:sp>
      <p:sp>
        <p:nvSpPr>
          <p:cNvPr id="8" name="Rectangle 7"/>
          <p:cNvSpPr/>
          <p:nvPr/>
        </p:nvSpPr>
        <p:spPr>
          <a:xfrm>
            <a:off x="548640" y="2880360"/>
            <a:ext cx="91440" cy="731520"/>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880360"/>
            <a:ext cx="4572000" cy="777240"/>
          </a:xfrm>
          <a:prstGeom prst="rect">
            <a:avLst/>
          </a:prstGeom>
          <a:noFill/>
        </p:spPr>
        <p:txBody>
          <a:bodyPr wrap="square" lIns="0" rIns="0" tIns="0" bIns="0" anchor="ctr">
            <a:spAutoFit/>
          </a:bodyPr>
          <a:lstStyle/>
          <a:p>
            <a:pPr algn="l"/>
            <a:r>
              <a:rPr sz="3400" b="1" i="0">
                <a:solidFill>
                  <a:srgbClr val="E8500A"/>
                </a:solidFill>
                <a:latin typeface="Calibri"/>
              </a:rPr>
              <a:t>Caso 86</a:t>
            </a:r>
          </a:p>
        </p:txBody>
      </p:sp>
      <p:sp>
        <p:nvSpPr>
          <p:cNvPr id="10" name="Rectangle 9"/>
          <p:cNvSpPr/>
          <p:nvPr/>
        </p:nvSpPr>
        <p:spPr>
          <a:xfrm>
            <a:off x="548640" y="3749039"/>
            <a:ext cx="7772400" cy="32004"/>
          </a:xfrm>
          <a:prstGeom prst="rect">
            <a:avLst/>
          </a:prstGeom>
          <a:solidFill>
            <a:srgbClr val="406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931920"/>
            <a:ext cx="2743200" cy="365760"/>
          </a:xfrm>
          <a:prstGeom prst="rect">
            <a:avLst/>
          </a:prstGeom>
          <a:noFill/>
        </p:spPr>
        <p:txBody>
          <a:bodyPr wrap="square" lIns="0" rIns="0" tIns="0" bIns="0" anchor="t">
            <a:spAutoFit/>
          </a:bodyPr>
          <a:lstStyle/>
          <a:p>
            <a:pPr algn="l"/>
            <a:r>
              <a:rPr sz="1100" b="0" i="0">
                <a:solidFill>
                  <a:srgbClr val="AABBCC"/>
                </a:solidFill>
                <a:latin typeface="Calibri"/>
              </a:rPr>
              <a:t>Integrantes</a:t>
            </a:r>
          </a:p>
        </p:txBody>
      </p:sp>
      <p:sp>
        <p:nvSpPr>
          <p:cNvPr id="12" name="Rounded Rectangle 11"/>
          <p:cNvSpPr/>
          <p:nvPr/>
        </p:nvSpPr>
        <p:spPr>
          <a:xfrm>
            <a:off x="548640" y="4343400"/>
            <a:ext cx="2651760" cy="502920"/>
          </a:xfrm>
          <a:prstGeom prst="roundRect">
            <a:avLst/>
          </a:prstGeom>
          <a:solidFill>
            <a:srgbClr val="25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1200" b="1">
                <a:solidFill>
                  <a:srgbClr val="FFFFFF"/>
                </a:solidFill>
                <a:latin typeface="Calibri"/>
              </a:rPr>
              <a:t>Andrea Añasco</a:t>
            </a:r>
          </a:p>
        </p:txBody>
      </p:sp>
      <p:sp>
        <p:nvSpPr>
          <p:cNvPr id="13" name="Rounded Rectangle 12"/>
          <p:cNvSpPr/>
          <p:nvPr/>
        </p:nvSpPr>
        <p:spPr>
          <a:xfrm>
            <a:off x="3337560" y="4343400"/>
            <a:ext cx="2651760" cy="502920"/>
          </a:xfrm>
          <a:prstGeom prst="roundRect">
            <a:avLst/>
          </a:prstGeom>
          <a:solidFill>
            <a:srgbClr val="25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1200" b="1">
                <a:solidFill>
                  <a:srgbClr val="FFFFFF"/>
                </a:solidFill>
                <a:latin typeface="Calibri"/>
              </a:rPr>
              <a:t>Gema Sepúlveda</a:t>
            </a:r>
          </a:p>
        </p:txBody>
      </p:sp>
      <p:sp>
        <p:nvSpPr>
          <p:cNvPr id="14" name="Rounded Rectangle 13"/>
          <p:cNvSpPr/>
          <p:nvPr/>
        </p:nvSpPr>
        <p:spPr>
          <a:xfrm>
            <a:off x="6126479" y="4343400"/>
            <a:ext cx="2651760" cy="502920"/>
          </a:xfrm>
          <a:prstGeom prst="roundRect">
            <a:avLst/>
          </a:prstGeom>
          <a:solidFill>
            <a:srgbClr val="25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1200" b="1">
                <a:solidFill>
                  <a:srgbClr val="FFFFFF"/>
                </a:solidFill>
                <a:latin typeface="Calibri"/>
              </a:rPr>
              <a:t>Karen Rebolledo</a:t>
            </a:r>
          </a:p>
        </p:txBody>
      </p:sp>
      <p:sp>
        <p:nvSpPr>
          <p:cNvPr id="15" name="Rounded Rectangle 14"/>
          <p:cNvSpPr/>
          <p:nvPr/>
        </p:nvSpPr>
        <p:spPr>
          <a:xfrm>
            <a:off x="8915400" y="4343400"/>
            <a:ext cx="2651760" cy="502920"/>
          </a:xfrm>
          <a:prstGeom prst="roundRect">
            <a:avLst/>
          </a:prstGeom>
          <a:solidFill>
            <a:srgbClr val="25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1200" b="1">
                <a:solidFill>
                  <a:srgbClr val="FFFFFF"/>
                </a:solidFill>
                <a:latin typeface="Calibri"/>
              </a:rPr>
              <a:t>Nicolás Muñoz</a:t>
            </a:r>
          </a:p>
        </p:txBody>
      </p:sp>
      <p:sp>
        <p:nvSpPr>
          <p:cNvPr id="16" name="TextBox 15"/>
          <p:cNvSpPr txBox="1"/>
          <p:nvPr/>
        </p:nvSpPr>
        <p:spPr>
          <a:xfrm>
            <a:off x="548640" y="5074920"/>
            <a:ext cx="7315200" cy="365760"/>
          </a:xfrm>
          <a:prstGeom prst="rect">
            <a:avLst/>
          </a:prstGeom>
          <a:noFill/>
        </p:spPr>
        <p:txBody>
          <a:bodyPr wrap="square" lIns="0" rIns="0" tIns="0" bIns="0" anchor="t">
            <a:spAutoFit/>
          </a:bodyPr>
          <a:lstStyle/>
          <a:p>
            <a:pPr algn="l"/>
            <a:r>
              <a:rPr sz="1100" b="0" i="1">
                <a:solidFill>
                  <a:srgbClr val="AABBCC"/>
                </a:solidFill>
                <a:latin typeface="Calibri"/>
              </a:rPr>
              <a:t>Catálogo de Esquemas Tributarios SII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0" y="0"/>
            <a:ext cx="12191695" cy="13258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2552"/>
            <a:ext cx="12191695" cy="1554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711696"/>
            <a:ext cx="11430000" cy="128016"/>
          </a:xfrm>
          <a:prstGeom prst="rect">
            <a:avLst/>
          </a:prstGeom>
          <a:noFill/>
        </p:spPr>
        <p:txBody>
          <a:bodyPr wrap="square" lIns="0" rIns="0" tIns="0" bIns="0" anchor="t">
            <a:spAutoFit/>
          </a:bodyPr>
          <a:lstStyle/>
          <a:p>
            <a:pPr algn="r"/>
            <a:r>
              <a:rPr sz="800" b="0" i="0">
                <a:solidFill>
                  <a:srgbClr val="AABBCC"/>
                </a:solidFill>
                <a:latin typeface="Calibri"/>
              </a:rPr>
              <a:t>Grupo 4: Andrea Añasco · Gema Sepúlveda · Karen Rebolledo · Nicolás Muñoz   |   Caso 86 — Catálogo de Esquemas Tributarios SII 2025</a:t>
            </a:r>
          </a:p>
        </p:txBody>
      </p:sp>
      <p:sp>
        <p:nvSpPr>
          <p:cNvPr id="6" name="Rectangle 5"/>
          <p:cNvSpPr/>
          <p:nvPr/>
        </p:nvSpPr>
        <p:spPr>
          <a:xfrm>
            <a:off x="0" y="1325880"/>
            <a:ext cx="12191695" cy="548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
            <a:ext cx="9601200" cy="914400"/>
          </a:xfrm>
          <a:prstGeom prst="rect">
            <a:avLst/>
          </a:prstGeom>
          <a:noFill/>
        </p:spPr>
        <p:txBody>
          <a:bodyPr wrap="square" lIns="0" rIns="0" tIns="0" bIns="0" anchor="ctr">
            <a:spAutoFit/>
          </a:bodyPr>
          <a:lstStyle/>
          <a:p>
            <a:pPr algn="l"/>
            <a:r>
              <a:rPr sz="2800" b="1" i="0">
                <a:solidFill>
                  <a:srgbClr val="FFFFFF"/>
                </a:solidFill>
                <a:latin typeface="Calibri"/>
              </a:rPr>
              <a:t>Caso 86</a:t>
            </a:r>
          </a:p>
        </p:txBody>
      </p:sp>
      <p:sp>
        <p:nvSpPr>
          <p:cNvPr id="8" name="Rectangle 7"/>
          <p:cNvSpPr/>
          <p:nvPr/>
        </p:nvSpPr>
        <p:spPr>
          <a:xfrm>
            <a:off x="457200" y="1508760"/>
            <a:ext cx="73152" cy="5074920"/>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920240"/>
            <a:ext cx="1371600" cy="137160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r>
              <a:rPr sz="3000" b="1">
                <a:solidFill>
                  <a:srgbClr val="FFFFFF"/>
                </a:solidFill>
                <a:latin typeface="Calibri"/>
              </a:rPr>
              <a:t>CASO</a:t>
            </a:r>
          </a:p>
          <a:p>
            <a:pPr algn="ctr"/>
            <a:r>
              <a:rPr sz="3000" b="1">
                <a:solidFill>
                  <a:srgbClr val="FFFFFF"/>
                </a:solidFill>
                <a:latin typeface="Calibri"/>
              </a:rPr>
              <a:t>86</a:t>
            </a:r>
          </a:p>
        </p:txBody>
      </p:sp>
      <p:sp>
        <p:nvSpPr>
          <p:cNvPr id="10" name="Rounded Rectangle 9"/>
          <p:cNvSpPr/>
          <p:nvPr/>
        </p:nvSpPr>
        <p:spPr>
          <a:xfrm>
            <a:off x="2194560" y="1600200"/>
            <a:ext cx="9509760" cy="155448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350" b="0">
                <a:solidFill>
                  <a:srgbClr val="1C1C1C"/>
                </a:solidFill>
                <a:latin typeface="Calibri"/>
              </a:rPr>
              <a:t>Prestación de servicios profesionales a través de una sociedad de profesionales en la que los servicios son prestados por uno de sus socios (A), en la que participan otros socios (B y C) que no prestan sus servicios, ni tienen algún otro rol estratégico dentro de la sociedad.</a:t>
            </a:r>
          </a:p>
        </p:txBody>
      </p:sp>
      <p:sp>
        <p:nvSpPr>
          <p:cNvPr id="11" name="Rectangle 10"/>
          <p:cNvSpPr/>
          <p:nvPr/>
        </p:nvSpPr>
        <p:spPr>
          <a:xfrm>
            <a:off x="2194560" y="3291840"/>
            <a:ext cx="9509760" cy="3200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94560" y="3429000"/>
            <a:ext cx="3017520" cy="3840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31720" y="3456432"/>
            <a:ext cx="2743200" cy="347472"/>
          </a:xfrm>
          <a:prstGeom prst="rect">
            <a:avLst/>
          </a:prstGeom>
          <a:noFill/>
        </p:spPr>
        <p:txBody>
          <a:bodyPr wrap="square" lIns="0" rIns="0" tIns="0" bIns="0" anchor="ctr">
            <a:spAutoFit/>
          </a:bodyPr>
          <a:lstStyle/>
          <a:p>
            <a:pPr algn="l"/>
            <a:r>
              <a:rPr sz="1300" b="1" i="0">
                <a:solidFill>
                  <a:srgbClr val="FFFFFF"/>
                </a:solidFill>
                <a:latin typeface="Calibri"/>
              </a:rPr>
              <a:t>Socios</a:t>
            </a:r>
          </a:p>
        </p:txBody>
      </p:sp>
      <p:sp>
        <p:nvSpPr>
          <p:cNvPr id="14" name="Rounded Rectangle 13"/>
          <p:cNvSpPr/>
          <p:nvPr/>
        </p:nvSpPr>
        <p:spPr>
          <a:xfrm>
            <a:off x="2194560" y="3858768"/>
            <a:ext cx="3017520" cy="10058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A, B y C — personas naturales
33,33% de participación c/u</a:t>
            </a:r>
          </a:p>
        </p:txBody>
      </p:sp>
      <p:sp>
        <p:nvSpPr>
          <p:cNvPr id="15" name="Rectangle 14"/>
          <p:cNvSpPr/>
          <p:nvPr/>
        </p:nvSpPr>
        <p:spPr>
          <a:xfrm>
            <a:off x="5349240" y="3429000"/>
            <a:ext cx="3017520" cy="384048"/>
          </a:xfrm>
          <a:prstGeom prst="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3456432"/>
            <a:ext cx="2743200" cy="347472"/>
          </a:xfrm>
          <a:prstGeom prst="rect">
            <a:avLst/>
          </a:prstGeom>
          <a:noFill/>
        </p:spPr>
        <p:txBody>
          <a:bodyPr wrap="square" lIns="0" rIns="0" tIns="0" bIns="0" anchor="ctr">
            <a:spAutoFit/>
          </a:bodyPr>
          <a:lstStyle/>
          <a:p>
            <a:pPr algn="l"/>
            <a:r>
              <a:rPr sz="1300" b="1" i="0">
                <a:solidFill>
                  <a:srgbClr val="FFFFFF"/>
                </a:solidFill>
                <a:latin typeface="Calibri"/>
              </a:rPr>
              <a:t>Sociedad D</a:t>
            </a:r>
          </a:p>
        </p:txBody>
      </p:sp>
      <p:sp>
        <p:nvSpPr>
          <p:cNvPr id="17" name="Rounded Rectangle 16"/>
          <p:cNvSpPr/>
          <p:nvPr/>
        </p:nvSpPr>
        <p:spPr>
          <a:xfrm>
            <a:off x="5349240" y="3858768"/>
            <a:ext cx="3017520" cy="10058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Prestación de servicios profesionales
Capital no significativo vs. ingresos</a:t>
            </a:r>
          </a:p>
        </p:txBody>
      </p:sp>
      <p:sp>
        <p:nvSpPr>
          <p:cNvPr id="18" name="Rectangle 17"/>
          <p:cNvSpPr/>
          <p:nvPr/>
        </p:nvSpPr>
        <p:spPr>
          <a:xfrm>
            <a:off x="8503920" y="3429000"/>
            <a:ext cx="3017520" cy="384048"/>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3456432"/>
            <a:ext cx="2743200" cy="347472"/>
          </a:xfrm>
          <a:prstGeom prst="rect">
            <a:avLst/>
          </a:prstGeom>
          <a:noFill/>
        </p:spPr>
        <p:txBody>
          <a:bodyPr wrap="square" lIns="0" rIns="0" tIns="0" bIns="0" anchor="ctr">
            <a:spAutoFit/>
          </a:bodyPr>
          <a:lstStyle/>
          <a:p>
            <a:pPr algn="l"/>
            <a:r>
              <a:rPr sz="1300" b="1" i="0">
                <a:solidFill>
                  <a:srgbClr val="FFFFFF"/>
                </a:solidFill>
                <a:latin typeface="Calibri"/>
              </a:rPr>
              <a:t>Problema</a:t>
            </a:r>
          </a:p>
        </p:txBody>
      </p:sp>
      <p:sp>
        <p:nvSpPr>
          <p:cNvPr id="20" name="Rounded Rectangle 19"/>
          <p:cNvSpPr/>
          <p:nvPr/>
        </p:nvSpPr>
        <p:spPr>
          <a:xfrm>
            <a:off x="8503920" y="3858768"/>
            <a:ext cx="3017520" cy="10058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Solo A presta los servicios
B y C no tienen rol activo ni aportan valor</a:t>
            </a:r>
          </a:p>
        </p:txBody>
      </p:sp>
      <p:sp>
        <p:nvSpPr>
          <p:cNvPr id="21" name="Rectangle 20"/>
          <p:cNvSpPr/>
          <p:nvPr/>
        </p:nvSpPr>
        <p:spPr>
          <a:xfrm>
            <a:off x="2194560" y="5074920"/>
            <a:ext cx="9509760" cy="5943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l"/>
            <a:r>
              <a:rPr sz="1200" b="0">
                <a:solidFill>
                  <a:srgbClr val="FFFFFF"/>
                </a:solidFill>
                <a:latin typeface="Calibri"/>
              </a:rPr>
              <a:t>RESULTADO: El esquema afecta indebidamente la carga tributaria del IGC de A por los ingresos obtenidos mediante la sociedad interpuesta.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0" y="0"/>
            <a:ext cx="12191695" cy="13258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2552"/>
            <a:ext cx="12191695" cy="1554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711696"/>
            <a:ext cx="11430000" cy="128016"/>
          </a:xfrm>
          <a:prstGeom prst="rect">
            <a:avLst/>
          </a:prstGeom>
          <a:noFill/>
        </p:spPr>
        <p:txBody>
          <a:bodyPr wrap="square" lIns="0" rIns="0" tIns="0" bIns="0" anchor="t">
            <a:spAutoFit/>
          </a:bodyPr>
          <a:lstStyle/>
          <a:p>
            <a:pPr algn="r"/>
            <a:r>
              <a:rPr sz="800" b="0" i="0">
                <a:solidFill>
                  <a:srgbClr val="AABBCC"/>
                </a:solidFill>
                <a:latin typeface="Calibri"/>
              </a:rPr>
              <a:t>Grupo 4: Andrea Añasco · Gema Sepúlveda · Karen Rebolledo · Nicolás Muñoz   |   Caso 86 — Catálogo de Esquemas Tributarios SII 2025</a:t>
            </a:r>
          </a:p>
        </p:txBody>
      </p:sp>
      <p:sp>
        <p:nvSpPr>
          <p:cNvPr id="6" name="Rectangle 5"/>
          <p:cNvSpPr/>
          <p:nvPr/>
        </p:nvSpPr>
        <p:spPr>
          <a:xfrm>
            <a:off x="0" y="1325880"/>
            <a:ext cx="12191695" cy="548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
            <a:ext cx="9601200" cy="914400"/>
          </a:xfrm>
          <a:prstGeom prst="rect">
            <a:avLst/>
          </a:prstGeom>
          <a:noFill/>
        </p:spPr>
        <p:txBody>
          <a:bodyPr wrap="square" lIns="0" rIns="0" tIns="0" bIns="0" anchor="ctr">
            <a:spAutoFit/>
          </a:bodyPr>
          <a:lstStyle/>
          <a:p>
            <a:pPr algn="l"/>
            <a:r>
              <a:rPr sz="2800" b="1" i="0">
                <a:solidFill>
                  <a:srgbClr val="FFFFFF"/>
                </a:solidFill>
                <a:latin typeface="Calibri"/>
              </a:rPr>
              <a:t>Índice</a:t>
            </a:r>
          </a:p>
        </p:txBody>
      </p:sp>
      <p:sp>
        <p:nvSpPr>
          <p:cNvPr id="8" name="Oval 7"/>
          <p:cNvSpPr/>
          <p:nvPr/>
        </p:nvSpPr>
        <p:spPr>
          <a:xfrm>
            <a:off x="658368" y="1581912"/>
            <a:ext cx="457200" cy="457200"/>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9" name="Rectangle 8"/>
          <p:cNvSpPr/>
          <p:nvPr/>
        </p:nvSpPr>
        <p:spPr>
          <a:xfrm>
            <a:off x="1280160" y="1554480"/>
            <a:ext cx="54864" cy="51206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63040" y="1554480"/>
            <a:ext cx="5486400" cy="274320"/>
          </a:xfrm>
          <a:prstGeom prst="rect">
            <a:avLst/>
          </a:prstGeom>
          <a:noFill/>
        </p:spPr>
        <p:txBody>
          <a:bodyPr wrap="square" lIns="0" rIns="0" tIns="0" bIns="0" anchor="b">
            <a:spAutoFit/>
          </a:bodyPr>
          <a:lstStyle/>
          <a:p>
            <a:pPr algn="l"/>
            <a:r>
              <a:rPr sz="1350" b="1" i="0">
                <a:solidFill>
                  <a:srgbClr val="1C1C1C"/>
                </a:solidFill>
                <a:latin typeface="Calibri"/>
              </a:rPr>
              <a:t>Normativa base</a:t>
            </a:r>
          </a:p>
        </p:txBody>
      </p:sp>
      <p:sp>
        <p:nvSpPr>
          <p:cNvPr id="11" name="TextBox 10"/>
          <p:cNvSpPr txBox="1"/>
          <p:nvPr/>
        </p:nvSpPr>
        <p:spPr>
          <a:xfrm>
            <a:off x="1463040" y="1810512"/>
            <a:ext cx="9875520" cy="256032"/>
          </a:xfrm>
          <a:prstGeom prst="rect">
            <a:avLst/>
          </a:prstGeom>
          <a:noFill/>
        </p:spPr>
        <p:txBody>
          <a:bodyPr wrap="square" lIns="0" rIns="0" tIns="0" bIns="0" anchor="t">
            <a:spAutoFit/>
          </a:bodyPr>
          <a:lstStyle/>
          <a:p>
            <a:pPr algn="l"/>
            <a:r>
              <a:rPr sz="1050" b="0" i="0">
                <a:solidFill>
                  <a:srgbClr val="555555"/>
                </a:solidFill>
                <a:latin typeface="Calibri"/>
              </a:rPr>
              <a:t>Art. 42 N°2 LIR · Circ. N°21/1991 y N°50/2020 SII</a:t>
            </a:r>
          </a:p>
        </p:txBody>
      </p:sp>
      <p:sp>
        <p:nvSpPr>
          <p:cNvPr id="12" name="Rectangle 11"/>
          <p:cNvSpPr/>
          <p:nvPr/>
        </p:nvSpPr>
        <p:spPr>
          <a:xfrm>
            <a:off x="1280160" y="2121408"/>
            <a:ext cx="10424160" cy="32004"/>
          </a:xfrm>
          <a:prstGeom prst="rect">
            <a:avLst/>
          </a:prstGeom>
          <a:solidFill>
            <a:srgbClr val="D0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2276856"/>
            <a:ext cx="457200" cy="45720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4" name="Rectangle 13"/>
          <p:cNvSpPr/>
          <p:nvPr/>
        </p:nvSpPr>
        <p:spPr>
          <a:xfrm>
            <a:off x="1280160" y="2249424"/>
            <a:ext cx="54864" cy="512064"/>
          </a:xfrm>
          <a:prstGeom prst="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63040" y="2249424"/>
            <a:ext cx="5486400" cy="274320"/>
          </a:xfrm>
          <a:prstGeom prst="rect">
            <a:avLst/>
          </a:prstGeom>
          <a:noFill/>
        </p:spPr>
        <p:txBody>
          <a:bodyPr wrap="square" lIns="0" rIns="0" tIns="0" bIns="0" anchor="b">
            <a:spAutoFit/>
          </a:bodyPr>
          <a:lstStyle/>
          <a:p>
            <a:pPr algn="l"/>
            <a:r>
              <a:rPr sz="1350" b="1" i="0">
                <a:solidFill>
                  <a:srgbClr val="1C1C1C"/>
                </a:solidFill>
                <a:latin typeface="Calibri"/>
              </a:rPr>
              <a:t>Descripción del esquema</a:t>
            </a:r>
          </a:p>
        </p:txBody>
      </p:sp>
      <p:sp>
        <p:nvSpPr>
          <p:cNvPr id="16" name="TextBox 15"/>
          <p:cNvSpPr txBox="1"/>
          <p:nvPr/>
        </p:nvSpPr>
        <p:spPr>
          <a:xfrm>
            <a:off x="1463040" y="2505456"/>
            <a:ext cx="9875520" cy="256032"/>
          </a:xfrm>
          <a:prstGeom prst="rect">
            <a:avLst/>
          </a:prstGeom>
          <a:noFill/>
        </p:spPr>
        <p:txBody>
          <a:bodyPr wrap="square" lIns="0" rIns="0" tIns="0" bIns="0" anchor="t">
            <a:spAutoFit/>
          </a:bodyPr>
          <a:lstStyle/>
          <a:p>
            <a:pPr algn="l"/>
            <a:r>
              <a:rPr sz="1050" b="0" i="0">
                <a:solidFill>
                  <a:srgbClr val="555555"/>
                </a:solidFill>
                <a:latin typeface="Calibri"/>
              </a:rPr>
              <a:t>Planificación tributaria — interposición sociedad de profesionales</a:t>
            </a:r>
          </a:p>
        </p:txBody>
      </p:sp>
      <p:sp>
        <p:nvSpPr>
          <p:cNvPr id="17" name="Rectangle 16"/>
          <p:cNvSpPr/>
          <p:nvPr/>
        </p:nvSpPr>
        <p:spPr>
          <a:xfrm>
            <a:off x="1280160" y="2816352"/>
            <a:ext cx="10424160" cy="32004"/>
          </a:xfrm>
          <a:prstGeom prst="rect">
            <a:avLst/>
          </a:prstGeom>
          <a:solidFill>
            <a:srgbClr val="D0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2971800"/>
            <a:ext cx="457200" cy="457200"/>
          </a:xfrm>
          <a:prstGeom prst="ellipse">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9" name="Rectangle 18"/>
          <p:cNvSpPr/>
          <p:nvPr/>
        </p:nvSpPr>
        <p:spPr>
          <a:xfrm>
            <a:off x="1280160" y="2944368"/>
            <a:ext cx="54864" cy="512064"/>
          </a:xfrm>
          <a:prstGeom prst="rect">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40" y="2944368"/>
            <a:ext cx="5486400" cy="274320"/>
          </a:xfrm>
          <a:prstGeom prst="rect">
            <a:avLst/>
          </a:prstGeom>
          <a:noFill/>
        </p:spPr>
        <p:txBody>
          <a:bodyPr wrap="square" lIns="0" rIns="0" tIns="0" bIns="0" anchor="b">
            <a:spAutoFit/>
          </a:bodyPr>
          <a:lstStyle/>
          <a:p>
            <a:pPr algn="l"/>
            <a:r>
              <a:rPr sz="1350" b="1" i="0">
                <a:solidFill>
                  <a:srgbClr val="1C1C1C"/>
                </a:solidFill>
                <a:latin typeface="Calibri"/>
              </a:rPr>
              <a:t>Puntos de análisis del SII</a:t>
            </a:r>
          </a:p>
        </p:txBody>
      </p:sp>
      <p:sp>
        <p:nvSpPr>
          <p:cNvPr id="21" name="TextBox 20"/>
          <p:cNvSpPr txBox="1"/>
          <p:nvPr/>
        </p:nvSpPr>
        <p:spPr>
          <a:xfrm>
            <a:off x="1463040" y="3200400"/>
            <a:ext cx="9875520" cy="256032"/>
          </a:xfrm>
          <a:prstGeom prst="rect">
            <a:avLst/>
          </a:prstGeom>
          <a:noFill/>
        </p:spPr>
        <p:txBody>
          <a:bodyPr wrap="square" lIns="0" rIns="0" tIns="0" bIns="0" anchor="t">
            <a:spAutoFit/>
          </a:bodyPr>
          <a:lstStyle/>
          <a:p>
            <a:pPr algn="l"/>
            <a:r>
              <a:rPr sz="1050" b="0" i="0">
                <a:solidFill>
                  <a:srgbClr val="555555"/>
                </a:solidFill>
                <a:latin typeface="Calibri"/>
              </a:rPr>
              <a:t>Criterios de fiscalización y efectos del esquema</a:t>
            </a:r>
          </a:p>
        </p:txBody>
      </p:sp>
      <p:sp>
        <p:nvSpPr>
          <p:cNvPr id="22" name="Rectangle 21"/>
          <p:cNvSpPr/>
          <p:nvPr/>
        </p:nvSpPr>
        <p:spPr>
          <a:xfrm>
            <a:off x="1280160" y="3511296"/>
            <a:ext cx="10424160" cy="32004"/>
          </a:xfrm>
          <a:prstGeom prst="rect">
            <a:avLst/>
          </a:prstGeom>
          <a:solidFill>
            <a:srgbClr val="D0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58368" y="3666744"/>
            <a:ext cx="457200" cy="457200"/>
          </a:xfrm>
          <a:prstGeom prst="ellipse">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24" name="Rectangle 23"/>
          <p:cNvSpPr/>
          <p:nvPr/>
        </p:nvSpPr>
        <p:spPr>
          <a:xfrm>
            <a:off x="1280160" y="3639311"/>
            <a:ext cx="54864" cy="5120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40" y="3639311"/>
            <a:ext cx="5486400" cy="274320"/>
          </a:xfrm>
          <a:prstGeom prst="rect">
            <a:avLst/>
          </a:prstGeom>
          <a:noFill/>
        </p:spPr>
        <p:txBody>
          <a:bodyPr wrap="square" lIns="0" rIns="0" tIns="0" bIns="0" anchor="b">
            <a:spAutoFit/>
          </a:bodyPr>
          <a:lstStyle/>
          <a:p>
            <a:pPr algn="l"/>
            <a:r>
              <a:rPr sz="1350" b="1" i="0">
                <a:solidFill>
                  <a:srgbClr val="1C1C1C"/>
                </a:solidFill>
                <a:latin typeface="Calibri"/>
              </a:rPr>
              <a:t>Calificación jurídica</a:t>
            </a:r>
          </a:p>
        </p:txBody>
      </p:sp>
      <p:sp>
        <p:nvSpPr>
          <p:cNvPr id="26" name="TextBox 25"/>
          <p:cNvSpPr txBox="1"/>
          <p:nvPr/>
        </p:nvSpPr>
        <p:spPr>
          <a:xfrm>
            <a:off x="1463040" y="3895344"/>
            <a:ext cx="9875520" cy="256032"/>
          </a:xfrm>
          <a:prstGeom prst="rect">
            <a:avLst/>
          </a:prstGeom>
          <a:noFill/>
        </p:spPr>
        <p:txBody>
          <a:bodyPr wrap="square" lIns="0" rIns="0" tIns="0" bIns="0" anchor="t">
            <a:spAutoFit/>
          </a:bodyPr>
          <a:lstStyle/>
          <a:p>
            <a:pPr algn="l"/>
            <a:r>
              <a:rPr sz="1050" b="0" i="0">
                <a:solidFill>
                  <a:srgbClr val="555555"/>
                </a:solidFill>
                <a:latin typeface="Calibri"/>
              </a:rPr>
              <a:t>¿Abuso (Art. 4 ter CT) o Simulación (Art. 4 quáter CT)?</a:t>
            </a:r>
          </a:p>
        </p:txBody>
      </p:sp>
      <p:sp>
        <p:nvSpPr>
          <p:cNvPr id="27" name="Rectangle 26"/>
          <p:cNvSpPr/>
          <p:nvPr/>
        </p:nvSpPr>
        <p:spPr>
          <a:xfrm>
            <a:off x="1280160" y="4206240"/>
            <a:ext cx="10424160" cy="32004"/>
          </a:xfrm>
          <a:prstGeom prst="rect">
            <a:avLst/>
          </a:prstGeom>
          <a:solidFill>
            <a:srgbClr val="D0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 y="4361688"/>
            <a:ext cx="457200" cy="457200"/>
          </a:xfrm>
          <a:prstGeom prst="ellipse">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9" name="Rectangle 28"/>
          <p:cNvSpPr/>
          <p:nvPr/>
        </p:nvSpPr>
        <p:spPr>
          <a:xfrm>
            <a:off x="1280160" y="4334255"/>
            <a:ext cx="54864" cy="512064"/>
          </a:xfrm>
          <a:prstGeom prst="rect">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40" y="4334255"/>
            <a:ext cx="5486400" cy="274320"/>
          </a:xfrm>
          <a:prstGeom prst="rect">
            <a:avLst/>
          </a:prstGeom>
          <a:noFill/>
        </p:spPr>
        <p:txBody>
          <a:bodyPr wrap="square" lIns="0" rIns="0" tIns="0" bIns="0" anchor="b">
            <a:spAutoFit/>
          </a:bodyPr>
          <a:lstStyle/>
          <a:p>
            <a:pPr algn="l"/>
            <a:r>
              <a:rPr sz="1350" b="1" i="0">
                <a:solidFill>
                  <a:srgbClr val="1C1C1C"/>
                </a:solidFill>
                <a:latin typeface="Calibri"/>
              </a:rPr>
              <a:t>Alternativas de solución</a:t>
            </a:r>
          </a:p>
        </p:txBody>
      </p:sp>
      <p:sp>
        <p:nvSpPr>
          <p:cNvPr id="31" name="TextBox 30"/>
          <p:cNvSpPr txBox="1"/>
          <p:nvPr/>
        </p:nvSpPr>
        <p:spPr>
          <a:xfrm>
            <a:off x="1463040" y="4590288"/>
            <a:ext cx="9875520" cy="256032"/>
          </a:xfrm>
          <a:prstGeom prst="rect">
            <a:avLst/>
          </a:prstGeom>
          <a:noFill/>
        </p:spPr>
        <p:txBody>
          <a:bodyPr wrap="square" lIns="0" rIns="0" tIns="0" bIns="0" anchor="t">
            <a:spAutoFit/>
          </a:bodyPr>
          <a:lstStyle/>
          <a:p>
            <a:pPr algn="l"/>
            <a:r>
              <a:rPr sz="1050" b="0" i="0">
                <a:solidFill>
                  <a:srgbClr val="555555"/>
                </a:solidFill>
                <a:latin typeface="Calibri"/>
              </a:rPr>
              <a:t>5 estructuras legítimas compatibles con las NGA</a:t>
            </a:r>
          </a:p>
        </p:txBody>
      </p:sp>
      <p:sp>
        <p:nvSpPr>
          <p:cNvPr id="32" name="Rectangle 31"/>
          <p:cNvSpPr/>
          <p:nvPr/>
        </p:nvSpPr>
        <p:spPr>
          <a:xfrm>
            <a:off x="1280160" y="4901183"/>
            <a:ext cx="10424160" cy="32004"/>
          </a:xfrm>
          <a:prstGeom prst="rect">
            <a:avLst/>
          </a:prstGeom>
          <a:solidFill>
            <a:srgbClr val="D0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5056631"/>
            <a:ext cx="457200" cy="457200"/>
          </a:xfrm>
          <a:prstGeom prst="ellipse">
            <a:avLst/>
          </a:prstGeom>
          <a:solidFill>
            <a:srgbClr val="C028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34" name="Rectangle 33"/>
          <p:cNvSpPr/>
          <p:nvPr/>
        </p:nvSpPr>
        <p:spPr>
          <a:xfrm>
            <a:off x="1280160" y="5029199"/>
            <a:ext cx="54864" cy="512064"/>
          </a:xfrm>
          <a:prstGeom prst="rect">
            <a:avLst/>
          </a:prstGeom>
          <a:solidFill>
            <a:srgbClr val="C0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463040" y="5029199"/>
            <a:ext cx="5486400" cy="274320"/>
          </a:xfrm>
          <a:prstGeom prst="rect">
            <a:avLst/>
          </a:prstGeom>
          <a:noFill/>
        </p:spPr>
        <p:txBody>
          <a:bodyPr wrap="square" lIns="0" rIns="0" tIns="0" bIns="0" anchor="b">
            <a:spAutoFit/>
          </a:bodyPr>
          <a:lstStyle/>
          <a:p>
            <a:pPr algn="l"/>
            <a:r>
              <a:rPr sz="1350" b="1" i="0">
                <a:solidFill>
                  <a:srgbClr val="1C1C1C"/>
                </a:solidFill>
                <a:latin typeface="Calibri"/>
              </a:rPr>
              <a:t>Conclusiones</a:t>
            </a:r>
          </a:p>
        </p:txBody>
      </p:sp>
      <p:sp>
        <p:nvSpPr>
          <p:cNvPr id="36" name="TextBox 35"/>
          <p:cNvSpPr txBox="1"/>
          <p:nvPr/>
        </p:nvSpPr>
        <p:spPr>
          <a:xfrm>
            <a:off x="1463040" y="5285231"/>
            <a:ext cx="9875520" cy="256032"/>
          </a:xfrm>
          <a:prstGeom prst="rect">
            <a:avLst/>
          </a:prstGeom>
          <a:noFill/>
        </p:spPr>
        <p:txBody>
          <a:bodyPr wrap="square" lIns="0" rIns="0" tIns="0" bIns="0" anchor="t">
            <a:spAutoFit/>
          </a:bodyPr>
          <a:lstStyle/>
          <a:p>
            <a:pPr algn="l"/>
            <a:r>
              <a:rPr sz="1050" b="0" i="0">
                <a:solidFill>
                  <a:srgbClr val="555555"/>
                </a:solidFill>
                <a:latin typeface="Calibri"/>
              </a:rPr>
              <a:t>Síntesis del análisis — Posición del Grupo 4</a:t>
            </a:r>
          </a:p>
        </p:txBody>
      </p:sp>
      <p:sp>
        <p:nvSpPr>
          <p:cNvPr id="37" name="Rectangle 36"/>
          <p:cNvSpPr/>
          <p:nvPr/>
        </p:nvSpPr>
        <p:spPr>
          <a:xfrm>
            <a:off x="1280160" y="5596127"/>
            <a:ext cx="10424160" cy="32004"/>
          </a:xfrm>
          <a:prstGeom prst="rect">
            <a:avLst/>
          </a:prstGeom>
          <a:solidFill>
            <a:srgbClr val="D0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0" y="0"/>
            <a:ext cx="12191695" cy="13258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2552"/>
            <a:ext cx="12191695" cy="1554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711696"/>
            <a:ext cx="11430000" cy="128016"/>
          </a:xfrm>
          <a:prstGeom prst="rect">
            <a:avLst/>
          </a:prstGeom>
          <a:noFill/>
        </p:spPr>
        <p:txBody>
          <a:bodyPr wrap="square" lIns="0" rIns="0" tIns="0" bIns="0" anchor="t">
            <a:spAutoFit/>
          </a:bodyPr>
          <a:lstStyle/>
          <a:p>
            <a:pPr algn="r"/>
            <a:r>
              <a:rPr sz="800" b="0" i="0">
                <a:solidFill>
                  <a:srgbClr val="AABBCC"/>
                </a:solidFill>
                <a:latin typeface="Calibri"/>
              </a:rPr>
              <a:t>Grupo 4: Andrea Añasco · Gema Sepúlveda · Karen Rebolledo · Nicolás Muñoz   |   Caso 86 — Catálogo de Esquemas Tributarios SII 2025</a:t>
            </a:r>
          </a:p>
        </p:txBody>
      </p:sp>
      <p:sp>
        <p:nvSpPr>
          <p:cNvPr id="6" name="Rectangle 5"/>
          <p:cNvSpPr/>
          <p:nvPr/>
        </p:nvSpPr>
        <p:spPr>
          <a:xfrm>
            <a:off x="0" y="1325880"/>
            <a:ext cx="12191695" cy="548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
            <a:ext cx="9601200" cy="914400"/>
          </a:xfrm>
          <a:prstGeom prst="rect">
            <a:avLst/>
          </a:prstGeom>
          <a:noFill/>
        </p:spPr>
        <p:txBody>
          <a:bodyPr wrap="square" lIns="0" rIns="0" tIns="0" bIns="0" anchor="ctr">
            <a:spAutoFit/>
          </a:bodyPr>
          <a:lstStyle/>
          <a:p>
            <a:pPr algn="l"/>
            <a:r>
              <a:rPr sz="2800" b="1" i="0">
                <a:solidFill>
                  <a:srgbClr val="FFFFFF"/>
                </a:solidFill>
                <a:latin typeface="Calibri"/>
              </a:rPr>
              <a:t>Normativa Base</a:t>
            </a:r>
          </a:p>
        </p:txBody>
      </p:sp>
      <p:sp>
        <p:nvSpPr>
          <p:cNvPr id="8" name="TextBox 7"/>
          <p:cNvSpPr txBox="1"/>
          <p:nvPr/>
        </p:nvSpPr>
        <p:spPr>
          <a:xfrm>
            <a:off x="502920" y="868680"/>
            <a:ext cx="9601200" cy="411480"/>
          </a:xfrm>
          <a:prstGeom prst="rect">
            <a:avLst/>
          </a:prstGeom>
          <a:noFill/>
        </p:spPr>
        <p:txBody>
          <a:bodyPr wrap="square" lIns="0" rIns="0" tIns="0" bIns="0" anchor="t">
            <a:spAutoFit/>
          </a:bodyPr>
          <a:lstStyle/>
          <a:p>
            <a:pPr algn="l"/>
            <a:r>
              <a:rPr sz="1300" b="0" i="0">
                <a:solidFill>
                  <a:srgbClr val="AABBCC"/>
                </a:solidFill>
                <a:latin typeface="Calibri"/>
              </a:rPr>
              <a:t>Art. 42 N°2 LIR  ·  Circular N°21 de 1991  ·  Circular N°50 de 2020</a:t>
            </a:r>
          </a:p>
        </p:txBody>
      </p:sp>
      <p:sp>
        <p:nvSpPr>
          <p:cNvPr id="9" name="Rectangle 8"/>
          <p:cNvSpPr/>
          <p:nvPr/>
        </p:nvSpPr>
        <p:spPr>
          <a:xfrm>
            <a:off x="457200" y="1508760"/>
            <a:ext cx="6675120" cy="3840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17904"/>
            <a:ext cx="6492240" cy="365760"/>
          </a:xfrm>
          <a:prstGeom prst="rect">
            <a:avLst/>
          </a:prstGeom>
          <a:noFill/>
        </p:spPr>
        <p:txBody>
          <a:bodyPr wrap="square" lIns="0" rIns="0" tIns="0" bIns="0" anchor="ctr">
            <a:spAutoFit/>
          </a:bodyPr>
          <a:lstStyle/>
          <a:p>
            <a:pPr algn="l"/>
            <a:r>
              <a:rPr sz="1150" b="1" i="0">
                <a:solidFill>
                  <a:srgbClr val="FFFFFF"/>
                </a:solidFill>
                <a:latin typeface="Calibri"/>
              </a:rPr>
              <a:t>Artículo 42 N°2 — Ley sobre Impuesto a la Renta</a:t>
            </a:r>
          </a:p>
        </p:txBody>
      </p:sp>
      <p:sp>
        <p:nvSpPr>
          <p:cNvPr id="11" name="Rounded Rectangle 10"/>
          <p:cNvSpPr/>
          <p:nvPr/>
        </p:nvSpPr>
        <p:spPr>
          <a:xfrm>
            <a:off x="457200" y="1938528"/>
            <a:ext cx="6675120" cy="7772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00" b="0">
                <a:solidFill>
                  <a:srgbClr val="1C1C1C"/>
                </a:solidFill>
                <a:latin typeface="Calibri"/>
              </a:rPr>
              <a:t>Ingresos del ejercicio de profesiones liberales u otras ocupaciones lucrativas (2ª categoría). Las sociedades de profesionales que presten exclusivamente servicios o asesorías profesionales pueden optar por declarar en 1ª categoría.</a:t>
            </a:r>
          </a:p>
        </p:txBody>
      </p:sp>
      <p:sp>
        <p:nvSpPr>
          <p:cNvPr id="12" name="Rectangle 11"/>
          <p:cNvSpPr/>
          <p:nvPr/>
        </p:nvSpPr>
        <p:spPr>
          <a:xfrm>
            <a:off x="457200" y="2816352"/>
            <a:ext cx="6675120" cy="384048"/>
          </a:xfrm>
          <a:prstGeom prst="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825496"/>
            <a:ext cx="6492240" cy="365760"/>
          </a:xfrm>
          <a:prstGeom prst="rect">
            <a:avLst/>
          </a:prstGeom>
          <a:noFill/>
        </p:spPr>
        <p:txBody>
          <a:bodyPr wrap="square" lIns="0" rIns="0" tIns="0" bIns="0" anchor="ctr">
            <a:spAutoFit/>
          </a:bodyPr>
          <a:lstStyle/>
          <a:p>
            <a:pPr algn="l"/>
            <a:r>
              <a:rPr sz="1150" b="1" i="0">
                <a:solidFill>
                  <a:srgbClr val="FFFFFF"/>
                </a:solidFill>
                <a:latin typeface="Calibri"/>
              </a:rPr>
              <a:t>Circular N°21/1991 y Circular N°50/2020  —  Requisitos copulativos</a:t>
            </a:r>
          </a:p>
        </p:txBody>
      </p:sp>
      <p:sp>
        <p:nvSpPr>
          <p:cNvPr id="14" name="Oval 13"/>
          <p:cNvSpPr/>
          <p:nvPr/>
        </p:nvSpPr>
        <p:spPr>
          <a:xfrm>
            <a:off x="585216" y="3310127"/>
            <a:ext cx="146304" cy="146304"/>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15" name="TextBox 14"/>
          <p:cNvSpPr txBox="1"/>
          <p:nvPr/>
        </p:nvSpPr>
        <p:spPr>
          <a:xfrm>
            <a:off x="841247" y="3264408"/>
            <a:ext cx="6217920" cy="274320"/>
          </a:xfrm>
          <a:prstGeom prst="rect">
            <a:avLst/>
          </a:prstGeom>
          <a:noFill/>
        </p:spPr>
        <p:txBody>
          <a:bodyPr wrap="square" lIns="0" rIns="0" tIns="0" bIns="0" anchor="ctr">
            <a:spAutoFit/>
          </a:bodyPr>
          <a:lstStyle/>
          <a:p>
            <a:pPr algn="l"/>
            <a:r>
              <a:rPr sz="1050" b="0" i="0">
                <a:solidFill>
                  <a:srgbClr val="1C1C1C"/>
                </a:solidFill>
                <a:latin typeface="Calibri"/>
              </a:rPr>
              <a:t>Debe tratarse de una sociedad de personas.</a:t>
            </a:r>
          </a:p>
        </p:txBody>
      </p:sp>
      <p:sp>
        <p:nvSpPr>
          <p:cNvPr id="16" name="Oval 15"/>
          <p:cNvSpPr/>
          <p:nvPr/>
        </p:nvSpPr>
        <p:spPr>
          <a:xfrm>
            <a:off x="585216" y="3593591"/>
            <a:ext cx="146304" cy="146304"/>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17" name="TextBox 16"/>
          <p:cNvSpPr txBox="1"/>
          <p:nvPr/>
        </p:nvSpPr>
        <p:spPr>
          <a:xfrm>
            <a:off x="841247" y="3547872"/>
            <a:ext cx="6217920" cy="274320"/>
          </a:xfrm>
          <a:prstGeom prst="rect">
            <a:avLst/>
          </a:prstGeom>
          <a:noFill/>
        </p:spPr>
        <p:txBody>
          <a:bodyPr wrap="square" lIns="0" rIns="0" tIns="0" bIns="0" anchor="ctr">
            <a:spAutoFit/>
          </a:bodyPr>
          <a:lstStyle/>
          <a:p>
            <a:pPr algn="l"/>
            <a:r>
              <a:rPr sz="1050" b="0" i="0">
                <a:solidFill>
                  <a:srgbClr val="1C1C1C"/>
                </a:solidFill>
                <a:latin typeface="Calibri"/>
              </a:rPr>
              <a:t>Objeto exclusivo: prestación de servicios o asesorías profesionales.</a:t>
            </a:r>
          </a:p>
        </p:txBody>
      </p:sp>
      <p:sp>
        <p:nvSpPr>
          <p:cNvPr id="18" name="Oval 17"/>
          <p:cNvSpPr/>
          <p:nvPr/>
        </p:nvSpPr>
        <p:spPr>
          <a:xfrm>
            <a:off x="585216" y="3877055"/>
            <a:ext cx="146304" cy="146304"/>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19" name="TextBox 18"/>
          <p:cNvSpPr txBox="1"/>
          <p:nvPr/>
        </p:nvSpPr>
        <p:spPr>
          <a:xfrm>
            <a:off x="841247" y="3831335"/>
            <a:ext cx="6217920" cy="274320"/>
          </a:xfrm>
          <a:prstGeom prst="rect">
            <a:avLst/>
          </a:prstGeom>
          <a:noFill/>
        </p:spPr>
        <p:txBody>
          <a:bodyPr wrap="square" lIns="0" rIns="0" tIns="0" bIns="0" anchor="ctr">
            <a:spAutoFit/>
          </a:bodyPr>
          <a:lstStyle/>
          <a:p>
            <a:pPr algn="l"/>
            <a:r>
              <a:rPr sz="1050" b="0" i="0">
                <a:solidFill>
                  <a:srgbClr val="1C1C1C"/>
                </a:solidFill>
                <a:latin typeface="Calibri"/>
              </a:rPr>
              <a:t>Servicios prestados por intermedio de sus socios (o dependientes que coadyuven).</a:t>
            </a:r>
          </a:p>
        </p:txBody>
      </p:sp>
      <p:sp>
        <p:nvSpPr>
          <p:cNvPr id="20" name="Oval 19"/>
          <p:cNvSpPr/>
          <p:nvPr/>
        </p:nvSpPr>
        <p:spPr>
          <a:xfrm>
            <a:off x="585216" y="4160519"/>
            <a:ext cx="146304" cy="146304"/>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21" name="TextBox 20"/>
          <p:cNvSpPr txBox="1"/>
          <p:nvPr/>
        </p:nvSpPr>
        <p:spPr>
          <a:xfrm>
            <a:off x="841247" y="4114799"/>
            <a:ext cx="6217920" cy="274320"/>
          </a:xfrm>
          <a:prstGeom prst="rect">
            <a:avLst/>
          </a:prstGeom>
          <a:noFill/>
        </p:spPr>
        <p:txBody>
          <a:bodyPr wrap="square" lIns="0" rIns="0" tIns="0" bIns="0" anchor="ctr">
            <a:spAutoFit/>
          </a:bodyPr>
          <a:lstStyle/>
          <a:p>
            <a:pPr algn="l"/>
            <a:r>
              <a:rPr sz="1050" b="0" i="0">
                <a:solidFill>
                  <a:srgbClr val="1C1C1C"/>
                </a:solidFill>
                <a:latin typeface="Calibri"/>
              </a:rPr>
              <a:t>TODOS los socios deben ejercer su profesión para la sociedad.</a:t>
            </a:r>
          </a:p>
        </p:txBody>
      </p:sp>
      <p:sp>
        <p:nvSpPr>
          <p:cNvPr id="22" name="Oval 21"/>
          <p:cNvSpPr/>
          <p:nvPr/>
        </p:nvSpPr>
        <p:spPr>
          <a:xfrm>
            <a:off x="585216" y="4443983"/>
            <a:ext cx="146304" cy="146304"/>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23" name="TextBox 22"/>
          <p:cNvSpPr txBox="1"/>
          <p:nvPr/>
        </p:nvSpPr>
        <p:spPr>
          <a:xfrm>
            <a:off x="841247" y="4398263"/>
            <a:ext cx="6217920" cy="274320"/>
          </a:xfrm>
          <a:prstGeom prst="rect">
            <a:avLst/>
          </a:prstGeom>
          <a:noFill/>
        </p:spPr>
        <p:txBody>
          <a:bodyPr wrap="square" lIns="0" rIns="0" tIns="0" bIns="0" anchor="ctr">
            <a:spAutoFit/>
          </a:bodyPr>
          <a:lstStyle/>
          <a:p>
            <a:pPr algn="l"/>
            <a:r>
              <a:rPr sz="1050" b="0" i="0">
                <a:solidFill>
                  <a:srgbClr val="1C1C1C"/>
                </a:solidFill>
                <a:latin typeface="Calibri"/>
              </a:rPr>
              <a:t>No es aceptable que un socio solo aporte capital sin ejercer labor profesional.</a:t>
            </a:r>
          </a:p>
        </p:txBody>
      </p:sp>
      <p:sp>
        <p:nvSpPr>
          <p:cNvPr id="24" name="Oval 23"/>
          <p:cNvSpPr/>
          <p:nvPr/>
        </p:nvSpPr>
        <p:spPr>
          <a:xfrm>
            <a:off x="585216" y="4727447"/>
            <a:ext cx="146304" cy="146304"/>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25" name="TextBox 24"/>
          <p:cNvSpPr txBox="1"/>
          <p:nvPr/>
        </p:nvSpPr>
        <p:spPr>
          <a:xfrm>
            <a:off x="841247" y="4681727"/>
            <a:ext cx="6217920" cy="274320"/>
          </a:xfrm>
          <a:prstGeom prst="rect">
            <a:avLst/>
          </a:prstGeom>
          <a:noFill/>
        </p:spPr>
        <p:txBody>
          <a:bodyPr wrap="square" lIns="0" rIns="0" tIns="0" bIns="0" anchor="ctr">
            <a:spAutoFit/>
          </a:bodyPr>
          <a:lstStyle/>
          <a:p>
            <a:pPr algn="l"/>
            <a:r>
              <a:rPr sz="1050" b="0" i="0">
                <a:solidFill>
                  <a:srgbClr val="1C1C1C"/>
                </a:solidFill>
                <a:latin typeface="Calibri"/>
              </a:rPr>
              <a:t>Lo relevante es la realización efectiva de labores, no la forma de remuneración.</a:t>
            </a:r>
          </a:p>
        </p:txBody>
      </p:sp>
      <p:sp>
        <p:nvSpPr>
          <p:cNvPr id="26" name="TextBox 25"/>
          <p:cNvSpPr txBox="1"/>
          <p:nvPr/>
        </p:nvSpPr>
        <p:spPr>
          <a:xfrm>
            <a:off x="7406640" y="1508760"/>
            <a:ext cx="4572000" cy="384048"/>
          </a:xfrm>
          <a:prstGeom prst="rect">
            <a:avLst/>
          </a:prstGeom>
          <a:noFill/>
        </p:spPr>
        <p:txBody>
          <a:bodyPr wrap="square" lIns="0" rIns="0" tIns="0" bIns="0" anchor="ctr">
            <a:spAutoFit/>
          </a:bodyPr>
          <a:lstStyle/>
          <a:p>
            <a:pPr algn="ctr"/>
            <a:r>
              <a:rPr sz="1500" b="1" i="0">
                <a:solidFill>
                  <a:srgbClr val="1A3A5C"/>
                </a:solidFill>
                <a:latin typeface="Calibri"/>
              </a:rPr>
              <a:t>Malla Societaria</a:t>
            </a:r>
          </a:p>
        </p:txBody>
      </p:sp>
      <p:sp>
        <p:nvSpPr>
          <p:cNvPr id="27" name="Oval 26"/>
          <p:cNvSpPr/>
          <p:nvPr/>
        </p:nvSpPr>
        <p:spPr>
          <a:xfrm>
            <a:off x="7498080" y="1965960"/>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552944" y="2359151"/>
            <a:ext cx="256032" cy="320040"/>
          </a:xfrm>
          <a:prstGeom prst="round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1920240"/>
            <a:ext cx="402336" cy="384048"/>
          </a:xfrm>
          <a:prstGeom prst="rect">
            <a:avLst/>
          </a:prstGeom>
          <a:noFill/>
        </p:spPr>
        <p:txBody>
          <a:bodyPr wrap="square" lIns="0" rIns="0" tIns="0" bIns="0" anchor="ctr">
            <a:spAutoFit/>
          </a:bodyPr>
          <a:lstStyle/>
          <a:p>
            <a:pPr algn="ctr"/>
            <a:r>
              <a:rPr sz="2000" b="1" i="0">
                <a:solidFill>
                  <a:srgbClr val="2E7BC4"/>
                </a:solidFill>
                <a:latin typeface="Calibri"/>
              </a:rPr>
              <a:t>B</a:t>
            </a:r>
          </a:p>
        </p:txBody>
      </p:sp>
      <p:sp>
        <p:nvSpPr>
          <p:cNvPr id="30" name="Oval 29"/>
          <p:cNvSpPr/>
          <p:nvPr/>
        </p:nvSpPr>
        <p:spPr>
          <a:xfrm>
            <a:off x="8869680" y="1965960"/>
            <a:ext cx="365760" cy="365760"/>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24544" y="2359151"/>
            <a:ext cx="256032" cy="320040"/>
          </a:xfrm>
          <a:prstGeom prst="round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51392" y="1920240"/>
            <a:ext cx="402336" cy="384048"/>
          </a:xfrm>
          <a:prstGeom prst="rect">
            <a:avLst/>
          </a:prstGeom>
          <a:noFill/>
        </p:spPr>
        <p:txBody>
          <a:bodyPr wrap="square" lIns="0" rIns="0" tIns="0" bIns="0" anchor="ctr">
            <a:spAutoFit/>
          </a:bodyPr>
          <a:lstStyle/>
          <a:p>
            <a:pPr algn="ctr"/>
            <a:r>
              <a:rPr sz="2000" b="1" i="0">
                <a:solidFill>
                  <a:srgbClr val="1A3A5C"/>
                </a:solidFill>
                <a:latin typeface="Calibri"/>
              </a:rPr>
              <a:t>A</a:t>
            </a:r>
          </a:p>
        </p:txBody>
      </p:sp>
      <p:sp>
        <p:nvSpPr>
          <p:cNvPr id="33" name="Oval 32"/>
          <p:cNvSpPr/>
          <p:nvPr/>
        </p:nvSpPr>
        <p:spPr>
          <a:xfrm>
            <a:off x="10241280" y="1965960"/>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0296143" y="2359151"/>
            <a:ext cx="256032" cy="320040"/>
          </a:xfrm>
          <a:prstGeom prst="round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222991" y="1920240"/>
            <a:ext cx="402336" cy="384048"/>
          </a:xfrm>
          <a:prstGeom prst="rect">
            <a:avLst/>
          </a:prstGeom>
          <a:noFill/>
        </p:spPr>
        <p:txBody>
          <a:bodyPr wrap="square" lIns="0" rIns="0" tIns="0" bIns="0" anchor="ctr">
            <a:spAutoFit/>
          </a:bodyPr>
          <a:lstStyle/>
          <a:p>
            <a:pPr algn="ctr"/>
            <a:r>
              <a:rPr sz="2000" b="1" i="0">
                <a:solidFill>
                  <a:srgbClr val="2E7BC4"/>
                </a:solidFill>
                <a:latin typeface="Calibri"/>
              </a:rPr>
              <a:t>C</a:t>
            </a:r>
          </a:p>
        </p:txBody>
      </p:sp>
      <p:sp>
        <p:nvSpPr>
          <p:cNvPr id="36" name="TextBox 35"/>
          <p:cNvSpPr txBox="1"/>
          <p:nvPr/>
        </p:nvSpPr>
        <p:spPr>
          <a:xfrm>
            <a:off x="7790688" y="2834640"/>
            <a:ext cx="320040" cy="45720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37" name="TextBox 36"/>
          <p:cNvSpPr txBox="1"/>
          <p:nvPr/>
        </p:nvSpPr>
        <p:spPr>
          <a:xfrm>
            <a:off x="9162288" y="2834640"/>
            <a:ext cx="320040" cy="45720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38" name="TextBox 37"/>
          <p:cNvSpPr txBox="1"/>
          <p:nvPr/>
        </p:nvSpPr>
        <p:spPr>
          <a:xfrm>
            <a:off x="10533888" y="2834640"/>
            <a:ext cx="320040" cy="45720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39" name="TextBox 38"/>
          <p:cNvSpPr txBox="1"/>
          <p:nvPr/>
        </p:nvSpPr>
        <p:spPr>
          <a:xfrm>
            <a:off x="7498079" y="2606040"/>
            <a:ext cx="777240" cy="256032"/>
          </a:xfrm>
          <a:prstGeom prst="rect">
            <a:avLst/>
          </a:prstGeom>
          <a:noFill/>
        </p:spPr>
        <p:txBody>
          <a:bodyPr wrap="square" lIns="0" rIns="0" tIns="0" bIns="0" anchor="t">
            <a:spAutoFit/>
          </a:bodyPr>
          <a:lstStyle/>
          <a:p>
            <a:pPr algn="ctr"/>
            <a:r>
              <a:rPr sz="950" b="0" i="0">
                <a:solidFill>
                  <a:srgbClr val="555555"/>
                </a:solidFill>
                <a:latin typeface="Calibri"/>
              </a:rPr>
              <a:t>33,33%</a:t>
            </a:r>
          </a:p>
        </p:txBody>
      </p:sp>
      <p:sp>
        <p:nvSpPr>
          <p:cNvPr id="40" name="TextBox 39"/>
          <p:cNvSpPr txBox="1"/>
          <p:nvPr/>
        </p:nvSpPr>
        <p:spPr>
          <a:xfrm>
            <a:off x="8887967" y="2606040"/>
            <a:ext cx="777240" cy="256032"/>
          </a:xfrm>
          <a:prstGeom prst="rect">
            <a:avLst/>
          </a:prstGeom>
          <a:noFill/>
        </p:spPr>
        <p:txBody>
          <a:bodyPr wrap="square" lIns="0" rIns="0" tIns="0" bIns="0" anchor="t">
            <a:spAutoFit/>
          </a:bodyPr>
          <a:lstStyle/>
          <a:p>
            <a:pPr algn="ctr"/>
            <a:r>
              <a:rPr sz="950" b="0" i="0">
                <a:solidFill>
                  <a:srgbClr val="555555"/>
                </a:solidFill>
                <a:latin typeface="Calibri"/>
              </a:rPr>
              <a:t>33,33%</a:t>
            </a:r>
          </a:p>
        </p:txBody>
      </p:sp>
      <p:sp>
        <p:nvSpPr>
          <p:cNvPr id="41" name="TextBox 40"/>
          <p:cNvSpPr txBox="1"/>
          <p:nvPr/>
        </p:nvSpPr>
        <p:spPr>
          <a:xfrm>
            <a:off x="10241280" y="2606040"/>
            <a:ext cx="777240" cy="256032"/>
          </a:xfrm>
          <a:prstGeom prst="rect">
            <a:avLst/>
          </a:prstGeom>
          <a:noFill/>
        </p:spPr>
        <p:txBody>
          <a:bodyPr wrap="square" lIns="0" rIns="0" tIns="0" bIns="0" anchor="t">
            <a:spAutoFit/>
          </a:bodyPr>
          <a:lstStyle/>
          <a:p>
            <a:pPr algn="ctr"/>
            <a:r>
              <a:rPr sz="950" b="0" i="0">
                <a:solidFill>
                  <a:srgbClr val="555555"/>
                </a:solidFill>
                <a:latin typeface="Calibri"/>
              </a:rPr>
              <a:t>33,33%</a:t>
            </a:r>
          </a:p>
        </p:txBody>
      </p:sp>
      <p:sp>
        <p:nvSpPr>
          <p:cNvPr id="42" name="Rectangle 41"/>
          <p:cNvSpPr/>
          <p:nvPr/>
        </p:nvSpPr>
        <p:spPr>
          <a:xfrm>
            <a:off x="7680960" y="3383280"/>
            <a:ext cx="3749039" cy="5943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r>
              <a:rPr sz="1250" b="1">
                <a:solidFill>
                  <a:srgbClr val="FFFFFF"/>
                </a:solidFill>
                <a:latin typeface="Calibri"/>
              </a:rPr>
              <a:t>Sociedad de Profesionales D</a:t>
            </a:r>
          </a:p>
        </p:txBody>
      </p:sp>
      <p:sp>
        <p:nvSpPr>
          <p:cNvPr id="43" name="Rounded Rectangle 42"/>
          <p:cNvSpPr/>
          <p:nvPr/>
        </p:nvSpPr>
        <p:spPr>
          <a:xfrm>
            <a:off x="7680960" y="4160520"/>
            <a:ext cx="3749039" cy="685800"/>
          </a:xfrm>
          <a:prstGeom prst="roundRect">
            <a:avLst/>
          </a:prstGeom>
          <a:solidFill>
            <a:srgbClr val="FBE5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1100" b="0">
                <a:solidFill>
                  <a:srgbClr val="C02828"/>
                </a:solidFill>
                <a:latin typeface="Calibri"/>
              </a:rPr>
              <a:t>Solo A presta los servicios profesionales.
B y C no tienen rol activo.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0" y="0"/>
            <a:ext cx="12191695" cy="13258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2552"/>
            <a:ext cx="12191695" cy="1554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711696"/>
            <a:ext cx="11430000" cy="128016"/>
          </a:xfrm>
          <a:prstGeom prst="rect">
            <a:avLst/>
          </a:prstGeom>
          <a:noFill/>
        </p:spPr>
        <p:txBody>
          <a:bodyPr wrap="square" lIns="0" rIns="0" tIns="0" bIns="0" anchor="t">
            <a:spAutoFit/>
          </a:bodyPr>
          <a:lstStyle/>
          <a:p>
            <a:pPr algn="r"/>
            <a:r>
              <a:rPr sz="800" b="0" i="0">
                <a:solidFill>
                  <a:srgbClr val="AABBCC"/>
                </a:solidFill>
                <a:latin typeface="Calibri"/>
              </a:rPr>
              <a:t>Grupo 4: Andrea Añasco · Gema Sepúlveda · Karen Rebolledo · Nicolás Muñoz   |   Caso 86 — Catálogo de Esquemas Tributarios SII 2025</a:t>
            </a:r>
          </a:p>
        </p:txBody>
      </p:sp>
      <p:sp>
        <p:nvSpPr>
          <p:cNvPr id="6" name="Rectangle 5"/>
          <p:cNvSpPr/>
          <p:nvPr/>
        </p:nvSpPr>
        <p:spPr>
          <a:xfrm>
            <a:off x="0" y="1325880"/>
            <a:ext cx="12191695" cy="548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
            <a:ext cx="9601200" cy="914400"/>
          </a:xfrm>
          <a:prstGeom prst="rect">
            <a:avLst/>
          </a:prstGeom>
          <a:noFill/>
        </p:spPr>
        <p:txBody>
          <a:bodyPr wrap="square" lIns="0" rIns="0" tIns="0" bIns="0" anchor="ctr">
            <a:spAutoFit/>
          </a:bodyPr>
          <a:lstStyle/>
          <a:p>
            <a:pPr algn="l"/>
            <a:r>
              <a:rPr sz="2800" b="1" i="0">
                <a:solidFill>
                  <a:srgbClr val="FFFFFF"/>
                </a:solidFill>
                <a:latin typeface="Calibri"/>
              </a:rPr>
              <a:t>Descripción del Esquema — Planificación</a:t>
            </a:r>
          </a:p>
        </p:txBody>
      </p:sp>
      <p:sp>
        <p:nvSpPr>
          <p:cNvPr id="8" name="Rectangle 7"/>
          <p:cNvSpPr/>
          <p:nvPr/>
        </p:nvSpPr>
        <p:spPr>
          <a:xfrm>
            <a:off x="411480" y="1508760"/>
            <a:ext cx="2423160" cy="507492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508760"/>
            <a:ext cx="64008" cy="50749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572768"/>
            <a:ext cx="2148840" cy="347472"/>
          </a:xfrm>
          <a:prstGeom prst="rect">
            <a:avLst/>
          </a:prstGeom>
          <a:noFill/>
        </p:spPr>
        <p:txBody>
          <a:bodyPr wrap="square" lIns="0" rIns="0" tIns="0" bIns="0" anchor="ctr">
            <a:spAutoFit/>
          </a:bodyPr>
          <a:lstStyle/>
          <a:p>
            <a:pPr algn="l"/>
            <a:r>
              <a:rPr sz="1200" b="1" i="0">
                <a:solidFill>
                  <a:srgbClr val="1A3A5C"/>
                </a:solidFill>
                <a:latin typeface="Calibri"/>
              </a:rPr>
              <a:t>Socios</a:t>
            </a:r>
          </a:p>
        </p:txBody>
      </p:sp>
      <p:sp>
        <p:nvSpPr>
          <p:cNvPr id="11" name="Oval 10"/>
          <p:cNvSpPr/>
          <p:nvPr/>
        </p:nvSpPr>
        <p:spPr>
          <a:xfrm>
            <a:off x="777239" y="1965960"/>
            <a:ext cx="548640" cy="548640"/>
          </a:xfrm>
          <a:prstGeom prst="ellipse">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a:t>
            </a:r>
          </a:p>
        </p:txBody>
      </p:sp>
      <p:sp>
        <p:nvSpPr>
          <p:cNvPr id="12" name="TextBox 11"/>
          <p:cNvSpPr txBox="1"/>
          <p:nvPr/>
        </p:nvSpPr>
        <p:spPr>
          <a:xfrm>
            <a:off x="1463040" y="2121408"/>
            <a:ext cx="457200" cy="32004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13" name="Rounded Rectangle 12"/>
          <p:cNvSpPr/>
          <p:nvPr/>
        </p:nvSpPr>
        <p:spPr>
          <a:xfrm>
            <a:off x="1965960" y="2011680"/>
            <a:ext cx="777240" cy="5486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950" b="0">
                <a:solidFill>
                  <a:srgbClr val="1C1C1C"/>
                </a:solidFill>
                <a:latin typeface="Calibri"/>
              </a:rPr>
              <a:t>Persona
Natural</a:t>
            </a:r>
          </a:p>
        </p:txBody>
      </p:sp>
      <p:sp>
        <p:nvSpPr>
          <p:cNvPr id="14" name="Oval 13"/>
          <p:cNvSpPr/>
          <p:nvPr/>
        </p:nvSpPr>
        <p:spPr>
          <a:xfrm>
            <a:off x="777239" y="3017520"/>
            <a:ext cx="548640" cy="548640"/>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B</a:t>
            </a:r>
          </a:p>
        </p:txBody>
      </p:sp>
      <p:sp>
        <p:nvSpPr>
          <p:cNvPr id="15" name="TextBox 14"/>
          <p:cNvSpPr txBox="1"/>
          <p:nvPr/>
        </p:nvSpPr>
        <p:spPr>
          <a:xfrm>
            <a:off x="1463040" y="3172968"/>
            <a:ext cx="457200" cy="32004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16" name="Rounded Rectangle 15"/>
          <p:cNvSpPr/>
          <p:nvPr/>
        </p:nvSpPr>
        <p:spPr>
          <a:xfrm>
            <a:off x="1965960" y="3063240"/>
            <a:ext cx="777240" cy="5486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950" b="0">
                <a:solidFill>
                  <a:srgbClr val="1C1C1C"/>
                </a:solidFill>
                <a:latin typeface="Calibri"/>
              </a:rPr>
              <a:t>Persona
Natural</a:t>
            </a:r>
          </a:p>
        </p:txBody>
      </p:sp>
      <p:sp>
        <p:nvSpPr>
          <p:cNvPr id="17" name="Oval 16"/>
          <p:cNvSpPr/>
          <p:nvPr/>
        </p:nvSpPr>
        <p:spPr>
          <a:xfrm>
            <a:off x="777239" y="4069080"/>
            <a:ext cx="548640" cy="548640"/>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C</a:t>
            </a:r>
          </a:p>
        </p:txBody>
      </p:sp>
      <p:sp>
        <p:nvSpPr>
          <p:cNvPr id="18" name="TextBox 17"/>
          <p:cNvSpPr txBox="1"/>
          <p:nvPr/>
        </p:nvSpPr>
        <p:spPr>
          <a:xfrm>
            <a:off x="1463040" y="4224528"/>
            <a:ext cx="457200" cy="32004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19" name="Rounded Rectangle 18"/>
          <p:cNvSpPr/>
          <p:nvPr/>
        </p:nvSpPr>
        <p:spPr>
          <a:xfrm>
            <a:off x="1965960" y="4114800"/>
            <a:ext cx="777240" cy="5486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950" b="0">
                <a:solidFill>
                  <a:srgbClr val="1C1C1C"/>
                </a:solidFill>
                <a:latin typeface="Calibri"/>
              </a:rPr>
              <a:t>Persona
Natural</a:t>
            </a:r>
          </a:p>
        </p:txBody>
      </p:sp>
      <p:sp>
        <p:nvSpPr>
          <p:cNvPr id="20" name="Rectangle 19"/>
          <p:cNvSpPr/>
          <p:nvPr/>
        </p:nvSpPr>
        <p:spPr>
          <a:xfrm>
            <a:off x="2971800" y="1508760"/>
            <a:ext cx="5212080" cy="3840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517904"/>
            <a:ext cx="5029200" cy="365760"/>
          </a:xfrm>
          <a:prstGeom prst="rect">
            <a:avLst/>
          </a:prstGeom>
          <a:noFill/>
        </p:spPr>
        <p:txBody>
          <a:bodyPr wrap="square" lIns="0" rIns="0" tIns="0" bIns="0" anchor="ctr">
            <a:spAutoFit/>
          </a:bodyPr>
          <a:lstStyle/>
          <a:p>
            <a:pPr algn="l"/>
            <a:r>
              <a:rPr sz="1250" b="1" i="0">
                <a:solidFill>
                  <a:srgbClr val="FFFFFF"/>
                </a:solidFill>
                <a:latin typeface="Calibri"/>
              </a:rPr>
              <a:t>El esquema</a:t>
            </a:r>
          </a:p>
        </p:txBody>
      </p:sp>
      <p:sp>
        <p:nvSpPr>
          <p:cNvPr id="22" name="Rounded Rectangle 21"/>
          <p:cNvSpPr/>
          <p:nvPr/>
        </p:nvSpPr>
        <p:spPr>
          <a:xfrm>
            <a:off x="2971800" y="1938528"/>
            <a:ext cx="5212080" cy="1600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73152" bIns="73152"/>
          <a:lstStyle/>
          <a:p>
            <a:pPr algn="l"/>
            <a:r>
              <a:rPr sz="1100" b="0">
                <a:solidFill>
                  <a:srgbClr val="1C1C1C"/>
                </a:solidFill>
                <a:latin typeface="Calibri"/>
              </a:rPr>
              <a:t>"A", "B" y "C" constituyen una sociedad de profesionales "D", destinada a la prestación de servicios. La participación de los socios se divide en partes iguales, tanto en capital como en utilidades. El capital social no es significativo en comparación con los ingresos anuales. Es importante señalar que A es el socio que presta los servicios profesionales de la compañía.</a:t>
            </a:r>
          </a:p>
        </p:txBody>
      </p:sp>
      <p:sp>
        <p:nvSpPr>
          <p:cNvPr id="23" name="Oval 22"/>
          <p:cNvSpPr/>
          <p:nvPr/>
        </p:nvSpPr>
        <p:spPr>
          <a:xfrm>
            <a:off x="3310128" y="3538728"/>
            <a:ext cx="512064" cy="512064"/>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B</a:t>
            </a:r>
          </a:p>
        </p:txBody>
      </p:sp>
      <p:sp>
        <p:nvSpPr>
          <p:cNvPr id="24" name="TextBox 23"/>
          <p:cNvSpPr txBox="1"/>
          <p:nvPr/>
        </p:nvSpPr>
        <p:spPr>
          <a:xfrm>
            <a:off x="3291840" y="3520440"/>
            <a:ext cx="685800" cy="246888"/>
          </a:xfrm>
          <a:prstGeom prst="rect">
            <a:avLst/>
          </a:prstGeom>
          <a:noFill/>
        </p:spPr>
        <p:txBody>
          <a:bodyPr wrap="square" lIns="0" rIns="0" tIns="0" bIns="0" anchor="t">
            <a:spAutoFit/>
          </a:bodyPr>
          <a:lstStyle/>
          <a:p>
            <a:pPr algn="ctr"/>
            <a:r>
              <a:rPr sz="900" b="0" i="0">
                <a:solidFill>
                  <a:srgbClr val="555555"/>
                </a:solidFill>
                <a:latin typeface="Calibri"/>
              </a:rPr>
              <a:t>33,33%</a:t>
            </a:r>
          </a:p>
        </p:txBody>
      </p:sp>
      <p:sp>
        <p:nvSpPr>
          <p:cNvPr id="25" name="Oval 24"/>
          <p:cNvSpPr/>
          <p:nvPr/>
        </p:nvSpPr>
        <p:spPr>
          <a:xfrm>
            <a:off x="4178807" y="3538728"/>
            <a:ext cx="512064" cy="512064"/>
          </a:xfrm>
          <a:prstGeom prst="ellipse">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a:t>
            </a:r>
          </a:p>
        </p:txBody>
      </p:sp>
      <p:sp>
        <p:nvSpPr>
          <p:cNvPr id="26" name="TextBox 25"/>
          <p:cNvSpPr txBox="1"/>
          <p:nvPr/>
        </p:nvSpPr>
        <p:spPr>
          <a:xfrm>
            <a:off x="4160520" y="3520440"/>
            <a:ext cx="685800" cy="246888"/>
          </a:xfrm>
          <a:prstGeom prst="rect">
            <a:avLst/>
          </a:prstGeom>
          <a:noFill/>
        </p:spPr>
        <p:txBody>
          <a:bodyPr wrap="square" lIns="0" rIns="0" tIns="0" bIns="0" anchor="t">
            <a:spAutoFit/>
          </a:bodyPr>
          <a:lstStyle/>
          <a:p>
            <a:pPr algn="ctr"/>
            <a:r>
              <a:rPr sz="900" b="0" i="0">
                <a:solidFill>
                  <a:srgbClr val="555555"/>
                </a:solidFill>
                <a:latin typeface="Calibri"/>
              </a:rPr>
              <a:t>33,33%</a:t>
            </a:r>
          </a:p>
        </p:txBody>
      </p:sp>
      <p:sp>
        <p:nvSpPr>
          <p:cNvPr id="27" name="Oval 26"/>
          <p:cNvSpPr/>
          <p:nvPr/>
        </p:nvSpPr>
        <p:spPr>
          <a:xfrm>
            <a:off x="5047488" y="3538728"/>
            <a:ext cx="512064" cy="512064"/>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C</a:t>
            </a:r>
          </a:p>
        </p:txBody>
      </p:sp>
      <p:sp>
        <p:nvSpPr>
          <p:cNvPr id="28" name="TextBox 27"/>
          <p:cNvSpPr txBox="1"/>
          <p:nvPr/>
        </p:nvSpPr>
        <p:spPr>
          <a:xfrm>
            <a:off x="5029200" y="3520440"/>
            <a:ext cx="685800" cy="246888"/>
          </a:xfrm>
          <a:prstGeom prst="rect">
            <a:avLst/>
          </a:prstGeom>
          <a:noFill/>
        </p:spPr>
        <p:txBody>
          <a:bodyPr wrap="square" lIns="0" rIns="0" tIns="0" bIns="0" anchor="t">
            <a:spAutoFit/>
          </a:bodyPr>
          <a:lstStyle/>
          <a:p>
            <a:pPr algn="ctr"/>
            <a:r>
              <a:rPr sz="900" b="0" i="0">
                <a:solidFill>
                  <a:srgbClr val="555555"/>
                </a:solidFill>
                <a:latin typeface="Calibri"/>
              </a:rPr>
              <a:t>33,33%</a:t>
            </a:r>
          </a:p>
        </p:txBody>
      </p:sp>
      <p:sp>
        <p:nvSpPr>
          <p:cNvPr id="29" name="TextBox 28"/>
          <p:cNvSpPr txBox="1"/>
          <p:nvPr/>
        </p:nvSpPr>
        <p:spPr>
          <a:xfrm>
            <a:off x="3401568" y="4160520"/>
            <a:ext cx="320040" cy="45720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30" name="TextBox 29"/>
          <p:cNvSpPr txBox="1"/>
          <p:nvPr/>
        </p:nvSpPr>
        <p:spPr>
          <a:xfrm>
            <a:off x="4270248" y="4160520"/>
            <a:ext cx="320040" cy="45720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31" name="TextBox 30"/>
          <p:cNvSpPr txBox="1"/>
          <p:nvPr/>
        </p:nvSpPr>
        <p:spPr>
          <a:xfrm>
            <a:off x="5138928" y="4160520"/>
            <a:ext cx="320040" cy="45720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32" name="Rectangle 31"/>
          <p:cNvSpPr/>
          <p:nvPr/>
        </p:nvSpPr>
        <p:spPr>
          <a:xfrm>
            <a:off x="3383280" y="4709160"/>
            <a:ext cx="2286000" cy="5029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r>
              <a:rPr sz="1300" b="1">
                <a:solidFill>
                  <a:srgbClr val="FFFFFF"/>
                </a:solidFill>
                <a:latin typeface="Calibri"/>
              </a:rPr>
              <a:t>Sociedad D</a:t>
            </a:r>
          </a:p>
        </p:txBody>
      </p:sp>
      <p:sp>
        <p:nvSpPr>
          <p:cNvPr id="33" name="Rectangle 32"/>
          <p:cNvSpPr/>
          <p:nvPr/>
        </p:nvSpPr>
        <p:spPr>
          <a:xfrm>
            <a:off x="8366760" y="1508760"/>
            <a:ext cx="3657600" cy="5074920"/>
          </a:xfrm>
          <a:prstGeom prst="rect">
            <a:avLst/>
          </a:prstGeom>
          <a:solidFill>
            <a:srgbClr val="FFF0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66760" y="1508760"/>
            <a:ext cx="64008" cy="5074920"/>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3920" y="1572768"/>
            <a:ext cx="3383280" cy="365760"/>
          </a:xfrm>
          <a:prstGeom prst="rect">
            <a:avLst/>
          </a:prstGeom>
          <a:noFill/>
        </p:spPr>
        <p:txBody>
          <a:bodyPr wrap="square" lIns="0" rIns="0" tIns="0" bIns="0" anchor="ctr">
            <a:spAutoFit/>
          </a:bodyPr>
          <a:lstStyle/>
          <a:p>
            <a:pPr algn="ctr"/>
            <a:r>
              <a:rPr sz="1400" b="1" i="0">
                <a:solidFill>
                  <a:srgbClr val="E8500A"/>
                </a:solidFill>
                <a:latin typeface="Calibri"/>
              </a:rPr>
              <a:t>RESULTADO</a:t>
            </a:r>
          </a:p>
        </p:txBody>
      </p:sp>
      <p:sp>
        <p:nvSpPr>
          <p:cNvPr id="36" name="Rectangle 35"/>
          <p:cNvSpPr/>
          <p:nvPr/>
        </p:nvSpPr>
        <p:spPr>
          <a:xfrm>
            <a:off x="8503920" y="2011680"/>
            <a:ext cx="3337560" cy="3200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03920" y="2148840"/>
            <a:ext cx="3383280" cy="4251960"/>
          </a:xfrm>
          <a:prstGeom prst="rect">
            <a:avLst/>
          </a:prstGeom>
          <a:noFill/>
        </p:spPr>
        <p:txBody>
          <a:bodyPr wrap="square" lIns="0" rIns="0" tIns="0" bIns="0" anchor="t">
            <a:spAutoFit/>
          </a:bodyPr>
          <a:lstStyle/>
          <a:p>
            <a:pPr algn="l"/>
            <a:r>
              <a:rPr sz="1150" b="0" i="0">
                <a:solidFill>
                  <a:srgbClr val="1C1C1C"/>
                </a:solidFill>
                <a:latin typeface="Calibri"/>
              </a:rPr>
              <a:t>El esquema afecta indebidamente la carga tributaria del Impuesto Global Complementario de 'A' por los ingresos obtenidos mediante la interposición de una sociedad de profesionales, en la que participan otros socios que no prestan sus servicios, ni tienen algún otro rol estratégico dentro de la sociedad.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0" y="0"/>
            <a:ext cx="12191695" cy="13258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2552"/>
            <a:ext cx="12191695" cy="1554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711696"/>
            <a:ext cx="11430000" cy="128016"/>
          </a:xfrm>
          <a:prstGeom prst="rect">
            <a:avLst/>
          </a:prstGeom>
          <a:noFill/>
        </p:spPr>
        <p:txBody>
          <a:bodyPr wrap="square" lIns="0" rIns="0" tIns="0" bIns="0" anchor="t">
            <a:spAutoFit/>
          </a:bodyPr>
          <a:lstStyle/>
          <a:p>
            <a:pPr algn="r"/>
            <a:r>
              <a:rPr sz="800" b="0" i="0">
                <a:solidFill>
                  <a:srgbClr val="AABBCC"/>
                </a:solidFill>
                <a:latin typeface="Calibri"/>
              </a:rPr>
              <a:t>Grupo 4: Andrea Añasco · Gema Sepúlveda · Karen Rebolledo · Nicolás Muñoz   |   Caso 86 — Catálogo de Esquemas Tributarios SII 2025</a:t>
            </a:r>
          </a:p>
        </p:txBody>
      </p:sp>
      <p:sp>
        <p:nvSpPr>
          <p:cNvPr id="6" name="Rectangle 5"/>
          <p:cNvSpPr/>
          <p:nvPr/>
        </p:nvSpPr>
        <p:spPr>
          <a:xfrm>
            <a:off x="0" y="1325880"/>
            <a:ext cx="12191695" cy="548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
            <a:ext cx="9601200" cy="914400"/>
          </a:xfrm>
          <a:prstGeom prst="rect">
            <a:avLst/>
          </a:prstGeom>
          <a:noFill/>
        </p:spPr>
        <p:txBody>
          <a:bodyPr wrap="square" lIns="0" rIns="0" tIns="0" bIns="0" anchor="ctr">
            <a:spAutoFit/>
          </a:bodyPr>
          <a:lstStyle/>
          <a:p>
            <a:pPr algn="l"/>
            <a:r>
              <a:rPr sz="2800" b="1" i="0">
                <a:solidFill>
                  <a:srgbClr val="FFFFFF"/>
                </a:solidFill>
                <a:latin typeface="Calibri"/>
              </a:rPr>
              <a:t>Puntos de Análisis del SII</a:t>
            </a:r>
          </a:p>
        </p:txBody>
      </p:sp>
      <p:sp>
        <p:nvSpPr>
          <p:cNvPr id="8" name="Rectangle 7"/>
          <p:cNvSpPr/>
          <p:nvPr/>
        </p:nvSpPr>
        <p:spPr>
          <a:xfrm>
            <a:off x="411480" y="1481328"/>
            <a:ext cx="7589520" cy="65836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l"/>
            <a:r>
              <a:rPr sz="1150" b="0">
                <a:solidFill>
                  <a:srgbClr val="FFFFFF"/>
                </a:solidFill>
                <a:latin typeface="Calibri"/>
              </a:rPr>
              <a:t>¿Existen razones económicas o jurídicas relevantes distintas a las meramente tributarias para que los servicios que realiza A sean prestados a través de la sociedad D?</a:t>
            </a:r>
          </a:p>
        </p:txBody>
      </p:sp>
      <p:sp>
        <p:nvSpPr>
          <p:cNvPr id="9" name="Oval 8"/>
          <p:cNvSpPr/>
          <p:nvPr/>
        </p:nvSpPr>
        <p:spPr>
          <a:xfrm>
            <a:off x="475488" y="2267712"/>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1</a:t>
            </a:r>
          </a:p>
        </p:txBody>
      </p:sp>
      <p:sp>
        <p:nvSpPr>
          <p:cNvPr id="10" name="Rounded Rectangle 9"/>
          <p:cNvSpPr/>
          <p:nvPr/>
        </p:nvSpPr>
        <p:spPr>
          <a:xfrm>
            <a:off x="960120" y="2249424"/>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Si existe vínculo entre los socios</a:t>
            </a:r>
          </a:p>
        </p:txBody>
      </p:sp>
      <p:sp>
        <p:nvSpPr>
          <p:cNvPr id="11" name="Oval 10"/>
          <p:cNvSpPr/>
          <p:nvPr/>
        </p:nvSpPr>
        <p:spPr>
          <a:xfrm>
            <a:off x="4315968" y="2267712"/>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2</a:t>
            </a:r>
          </a:p>
        </p:txBody>
      </p:sp>
      <p:sp>
        <p:nvSpPr>
          <p:cNvPr id="12" name="Rounded Rectangle 11"/>
          <p:cNvSpPr/>
          <p:nvPr/>
        </p:nvSpPr>
        <p:spPr>
          <a:xfrm>
            <a:off x="4800600" y="2249424"/>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El origen y naturaleza de los ingresos de la sociedad</a:t>
            </a:r>
          </a:p>
        </p:txBody>
      </p:sp>
      <p:sp>
        <p:nvSpPr>
          <p:cNvPr id="13" name="Oval 12"/>
          <p:cNvSpPr/>
          <p:nvPr/>
        </p:nvSpPr>
        <p:spPr>
          <a:xfrm>
            <a:off x="475488" y="2980944"/>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3</a:t>
            </a:r>
          </a:p>
        </p:txBody>
      </p:sp>
      <p:sp>
        <p:nvSpPr>
          <p:cNvPr id="14" name="Rounded Rectangle 13"/>
          <p:cNvSpPr/>
          <p:nvPr/>
        </p:nvSpPr>
        <p:spPr>
          <a:xfrm>
            <a:off x="960120" y="2962656"/>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Qué socios prestan los servicios y sus capacidades técnicas</a:t>
            </a:r>
          </a:p>
        </p:txBody>
      </p:sp>
      <p:sp>
        <p:nvSpPr>
          <p:cNvPr id="15" name="Oval 14"/>
          <p:cNvSpPr/>
          <p:nvPr/>
        </p:nvSpPr>
        <p:spPr>
          <a:xfrm>
            <a:off x="4315968" y="2980944"/>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4</a:t>
            </a:r>
          </a:p>
        </p:txBody>
      </p:sp>
      <p:sp>
        <p:nvSpPr>
          <p:cNvPr id="16" name="Rounded Rectangle 15"/>
          <p:cNvSpPr/>
          <p:nvPr/>
        </p:nvSpPr>
        <p:spPr>
          <a:xfrm>
            <a:off x="4800600" y="2962656"/>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El comportamiento histórico de impuestos finales de los intervinientes</a:t>
            </a:r>
          </a:p>
        </p:txBody>
      </p:sp>
      <p:sp>
        <p:nvSpPr>
          <p:cNvPr id="17" name="Oval 16"/>
          <p:cNvSpPr/>
          <p:nvPr/>
        </p:nvSpPr>
        <p:spPr>
          <a:xfrm>
            <a:off x="475488" y="3694175"/>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5</a:t>
            </a:r>
          </a:p>
        </p:txBody>
      </p:sp>
      <p:sp>
        <p:nvSpPr>
          <p:cNvPr id="18" name="Rounded Rectangle 17"/>
          <p:cNvSpPr/>
          <p:nvPr/>
        </p:nvSpPr>
        <p:spPr>
          <a:xfrm>
            <a:off x="960120" y="3675887"/>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Seguimiento de flujos de las utilidades distribuidas</a:t>
            </a:r>
          </a:p>
        </p:txBody>
      </p:sp>
      <p:sp>
        <p:nvSpPr>
          <p:cNvPr id="19" name="Oval 18"/>
          <p:cNvSpPr/>
          <p:nvPr/>
        </p:nvSpPr>
        <p:spPr>
          <a:xfrm>
            <a:off x="4315968" y="3694175"/>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6</a:t>
            </a:r>
          </a:p>
        </p:txBody>
      </p:sp>
      <p:sp>
        <p:nvSpPr>
          <p:cNvPr id="20" name="Rounded Rectangle 19"/>
          <p:cNvSpPr/>
          <p:nvPr/>
        </p:nvSpPr>
        <p:spPr>
          <a:xfrm>
            <a:off x="4800600" y="3675887"/>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Rol de socios que no prestan servicios (estrategia, administración, imagen, flujos)</a:t>
            </a:r>
          </a:p>
        </p:txBody>
      </p:sp>
      <p:sp>
        <p:nvSpPr>
          <p:cNvPr id="21" name="Oval 20"/>
          <p:cNvSpPr/>
          <p:nvPr/>
        </p:nvSpPr>
        <p:spPr>
          <a:xfrm>
            <a:off x="475488" y="4407407"/>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7</a:t>
            </a:r>
          </a:p>
        </p:txBody>
      </p:sp>
      <p:sp>
        <p:nvSpPr>
          <p:cNvPr id="22" name="Rounded Rectangle 21"/>
          <p:cNvSpPr/>
          <p:nvPr/>
        </p:nvSpPr>
        <p:spPr>
          <a:xfrm>
            <a:off x="960120" y="4389120"/>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Política de retiro de utilidades</a:t>
            </a:r>
          </a:p>
        </p:txBody>
      </p:sp>
      <p:sp>
        <p:nvSpPr>
          <p:cNvPr id="23" name="Oval 22"/>
          <p:cNvSpPr/>
          <p:nvPr/>
        </p:nvSpPr>
        <p:spPr>
          <a:xfrm>
            <a:off x="4315968" y="4407407"/>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8</a:t>
            </a:r>
          </a:p>
        </p:txBody>
      </p:sp>
      <p:sp>
        <p:nvSpPr>
          <p:cNvPr id="24" name="Rounded Rectangle 23"/>
          <p:cNvSpPr/>
          <p:nvPr/>
        </p:nvSpPr>
        <p:spPr>
          <a:xfrm>
            <a:off x="4800600" y="4389120"/>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Si los socios reciben otras remuneraciones o ingresos desde la sociedad</a:t>
            </a:r>
          </a:p>
        </p:txBody>
      </p:sp>
      <p:sp>
        <p:nvSpPr>
          <p:cNvPr id="25" name="Oval 24"/>
          <p:cNvSpPr/>
          <p:nvPr/>
        </p:nvSpPr>
        <p:spPr>
          <a:xfrm>
            <a:off x="475488" y="5120640"/>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9</a:t>
            </a:r>
          </a:p>
        </p:txBody>
      </p:sp>
      <p:sp>
        <p:nvSpPr>
          <p:cNvPr id="26" name="Rounded Rectangle 25"/>
          <p:cNvSpPr/>
          <p:nvPr/>
        </p:nvSpPr>
        <p:spPr>
          <a:xfrm>
            <a:off x="960120" y="5102352"/>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Si se han solicitado devoluciones de impuestos por parte de los socios</a:t>
            </a:r>
          </a:p>
        </p:txBody>
      </p:sp>
      <p:sp>
        <p:nvSpPr>
          <p:cNvPr id="27" name="Rectangle 26"/>
          <p:cNvSpPr/>
          <p:nvPr/>
        </p:nvSpPr>
        <p:spPr>
          <a:xfrm>
            <a:off x="8229600" y="1481328"/>
            <a:ext cx="3840480" cy="5120640"/>
          </a:xfrm>
          <a:prstGeom prst="rect">
            <a:avLst/>
          </a:prstGeom>
          <a:solidFill>
            <a:srgbClr val="F0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0" y="1481328"/>
            <a:ext cx="64008" cy="512064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366760" y="1572768"/>
            <a:ext cx="3566160" cy="347472"/>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3920" y="1591056"/>
            <a:ext cx="3383280" cy="329184"/>
          </a:xfrm>
          <a:prstGeom prst="rect">
            <a:avLst/>
          </a:prstGeom>
          <a:noFill/>
        </p:spPr>
        <p:txBody>
          <a:bodyPr wrap="square" lIns="0" rIns="0" tIns="0" bIns="0" anchor="ctr">
            <a:spAutoFit/>
          </a:bodyPr>
          <a:lstStyle/>
          <a:p>
            <a:pPr algn="l"/>
            <a:r>
              <a:rPr sz="1150" b="1" i="0">
                <a:solidFill>
                  <a:srgbClr val="FFFFFF"/>
                </a:solidFill>
                <a:latin typeface="Calibri"/>
              </a:rPr>
              <a:t>Efectos del Esquema</a:t>
            </a:r>
          </a:p>
        </p:txBody>
      </p:sp>
      <p:sp>
        <p:nvSpPr>
          <p:cNvPr id="31" name="Rounded Rectangle 30"/>
          <p:cNvSpPr/>
          <p:nvPr/>
        </p:nvSpPr>
        <p:spPr>
          <a:xfrm>
            <a:off x="8366760" y="1956816"/>
            <a:ext cx="3566160" cy="914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Disminuir la base imponible del IGC que le correspondería al socio que presta mayoritariamente los servicios (A), diluyendo el ingreso en 3 RUT.</a:t>
            </a:r>
          </a:p>
        </p:txBody>
      </p:sp>
      <p:sp>
        <p:nvSpPr>
          <p:cNvPr id="32" name="Rectangle 31"/>
          <p:cNvSpPr/>
          <p:nvPr/>
        </p:nvSpPr>
        <p:spPr>
          <a:xfrm>
            <a:off x="8366760" y="3017520"/>
            <a:ext cx="3566160" cy="347472"/>
          </a:xfrm>
          <a:prstGeom prst="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03920" y="3035808"/>
            <a:ext cx="3383280" cy="329184"/>
          </a:xfrm>
          <a:prstGeom prst="rect">
            <a:avLst/>
          </a:prstGeom>
          <a:noFill/>
        </p:spPr>
        <p:txBody>
          <a:bodyPr wrap="square" lIns="0" rIns="0" tIns="0" bIns="0" anchor="ctr">
            <a:spAutoFit/>
          </a:bodyPr>
          <a:lstStyle/>
          <a:p>
            <a:pPr algn="l"/>
            <a:r>
              <a:rPr sz="1150" b="1" i="0">
                <a:solidFill>
                  <a:srgbClr val="FFFFFF"/>
                </a:solidFill>
                <a:latin typeface="Calibri"/>
              </a:rPr>
              <a:t>Facultades del SII</a:t>
            </a:r>
          </a:p>
        </p:txBody>
      </p:sp>
      <p:sp>
        <p:nvSpPr>
          <p:cNvPr id="34" name="Rounded Rectangle 33"/>
          <p:cNvSpPr/>
          <p:nvPr/>
        </p:nvSpPr>
        <p:spPr>
          <a:xfrm>
            <a:off x="8366760" y="3401568"/>
            <a:ext cx="3566160" cy="914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El SII podría evaluar la aplicación de las NGA si se establece que la operación tuvo el efecto de afectar la base imponible de IGC de A.</a:t>
            </a:r>
          </a:p>
        </p:txBody>
      </p:sp>
      <p:sp>
        <p:nvSpPr>
          <p:cNvPr id="35" name="Rectangle 34"/>
          <p:cNvSpPr/>
          <p:nvPr/>
        </p:nvSpPr>
        <p:spPr>
          <a:xfrm>
            <a:off x="8366760" y="4462272"/>
            <a:ext cx="3566160" cy="347472"/>
          </a:xfrm>
          <a:prstGeom prst="rect">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03920" y="4480559"/>
            <a:ext cx="3383280" cy="329184"/>
          </a:xfrm>
          <a:prstGeom prst="rect">
            <a:avLst/>
          </a:prstGeom>
          <a:noFill/>
        </p:spPr>
        <p:txBody>
          <a:bodyPr wrap="square" lIns="0" rIns="0" tIns="0" bIns="0" anchor="ctr">
            <a:spAutoFit/>
          </a:bodyPr>
          <a:lstStyle/>
          <a:p>
            <a:pPr algn="l"/>
            <a:r>
              <a:rPr sz="1150" b="1" i="0">
                <a:solidFill>
                  <a:srgbClr val="FFFFFF"/>
                </a:solidFill>
                <a:latin typeface="Calibri"/>
              </a:rPr>
              <a:t>Normativa aplicable</a:t>
            </a:r>
          </a:p>
        </p:txBody>
      </p:sp>
      <p:sp>
        <p:nvSpPr>
          <p:cNvPr id="37" name="Rounded Rectangle 36"/>
          <p:cNvSpPr/>
          <p:nvPr/>
        </p:nvSpPr>
        <p:spPr>
          <a:xfrm>
            <a:off x="8366760" y="4846320"/>
            <a:ext cx="3566160" cy="914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Art. 42 N°2, 43 N°2 y 52 LIR  ·  Art. 14, 20 LIR
Art. 2 N°2 LIVS  ·  Arts. 4 bis, 4 ter y 4 quáter 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0" y="0"/>
            <a:ext cx="12191695" cy="13258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2552"/>
            <a:ext cx="12191695" cy="1554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711696"/>
            <a:ext cx="11430000" cy="128016"/>
          </a:xfrm>
          <a:prstGeom prst="rect">
            <a:avLst/>
          </a:prstGeom>
          <a:noFill/>
        </p:spPr>
        <p:txBody>
          <a:bodyPr wrap="square" lIns="0" rIns="0" tIns="0" bIns="0" anchor="t">
            <a:spAutoFit/>
          </a:bodyPr>
          <a:lstStyle/>
          <a:p>
            <a:pPr algn="r"/>
            <a:r>
              <a:rPr sz="800" b="0" i="0">
                <a:solidFill>
                  <a:srgbClr val="AABBCC"/>
                </a:solidFill>
                <a:latin typeface="Calibri"/>
              </a:rPr>
              <a:t>Grupo 4: Andrea Añasco · Gema Sepúlveda · Karen Rebolledo · Nicolás Muñoz   |   Caso 86 — Catálogo de Esquemas Tributarios SII 2025</a:t>
            </a:r>
          </a:p>
        </p:txBody>
      </p:sp>
      <p:sp>
        <p:nvSpPr>
          <p:cNvPr id="6" name="Rectangle 5"/>
          <p:cNvSpPr/>
          <p:nvPr/>
        </p:nvSpPr>
        <p:spPr>
          <a:xfrm>
            <a:off x="0" y="1325880"/>
            <a:ext cx="12191695" cy="548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
            <a:ext cx="9601200" cy="914400"/>
          </a:xfrm>
          <a:prstGeom prst="rect">
            <a:avLst/>
          </a:prstGeom>
          <a:noFill/>
        </p:spPr>
        <p:txBody>
          <a:bodyPr wrap="square" lIns="0" rIns="0" tIns="0" bIns="0" anchor="ctr">
            <a:spAutoFit/>
          </a:bodyPr>
          <a:lstStyle/>
          <a:p>
            <a:pPr algn="l"/>
            <a:r>
              <a:rPr sz="2800" b="1" i="0">
                <a:solidFill>
                  <a:srgbClr val="FFFFFF"/>
                </a:solidFill>
                <a:latin typeface="Calibri"/>
              </a:rPr>
              <a:t>Alternativas de Solución</a:t>
            </a:r>
          </a:p>
        </p:txBody>
      </p:sp>
      <p:sp>
        <p:nvSpPr>
          <p:cNvPr id="8" name="TextBox 7"/>
          <p:cNvSpPr txBox="1"/>
          <p:nvPr/>
        </p:nvSpPr>
        <p:spPr>
          <a:xfrm>
            <a:off x="502920" y="868680"/>
            <a:ext cx="9601200" cy="411480"/>
          </a:xfrm>
          <a:prstGeom prst="rect">
            <a:avLst/>
          </a:prstGeom>
          <a:noFill/>
        </p:spPr>
        <p:txBody>
          <a:bodyPr wrap="square" lIns="0" rIns="0" tIns="0" bIns="0" anchor="t">
            <a:spAutoFit/>
          </a:bodyPr>
          <a:lstStyle/>
          <a:p>
            <a:pPr algn="l"/>
            <a:r>
              <a:rPr sz="1300" b="0" i="0">
                <a:solidFill>
                  <a:srgbClr val="AABBCC"/>
                </a:solidFill>
                <a:latin typeface="Calibri"/>
              </a:rPr>
              <a:t>Estructuras legítimas compatibles con el ordenamiento tributario</a:t>
            </a:r>
          </a:p>
        </p:txBody>
      </p:sp>
      <p:sp>
        <p:nvSpPr>
          <p:cNvPr id="9" name="Oval 8"/>
          <p:cNvSpPr/>
          <p:nvPr/>
        </p:nvSpPr>
        <p:spPr>
          <a:xfrm>
            <a:off x="457200" y="1728216"/>
            <a:ext cx="512064" cy="512064"/>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10" name="Rectangle 9"/>
          <p:cNvSpPr/>
          <p:nvPr/>
        </p:nvSpPr>
        <p:spPr>
          <a:xfrm>
            <a:off x="1097280" y="1508760"/>
            <a:ext cx="64008" cy="950976"/>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207008" y="1508760"/>
            <a:ext cx="10561320" cy="347472"/>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1517904"/>
            <a:ext cx="10332720" cy="347472"/>
          </a:xfrm>
          <a:prstGeom prst="rect">
            <a:avLst/>
          </a:prstGeom>
          <a:noFill/>
        </p:spPr>
        <p:txBody>
          <a:bodyPr wrap="square" lIns="0" rIns="0" tIns="0" bIns="0" anchor="ctr">
            <a:spAutoFit/>
          </a:bodyPr>
          <a:lstStyle/>
          <a:p>
            <a:pPr algn="l"/>
            <a:r>
              <a:rPr sz="1250" b="1" i="0">
                <a:solidFill>
                  <a:srgbClr val="FFFFFF"/>
                </a:solidFill>
                <a:latin typeface="Calibri"/>
              </a:rPr>
              <a:t>Profesional independiente — Art. 42 N°2 LIR</a:t>
            </a:r>
          </a:p>
        </p:txBody>
      </p:sp>
      <p:sp>
        <p:nvSpPr>
          <p:cNvPr id="13" name="Rounded Rectangle 12"/>
          <p:cNvSpPr/>
          <p:nvPr/>
        </p:nvSpPr>
        <p:spPr>
          <a:xfrm>
            <a:off x="1207008" y="1874519"/>
            <a:ext cx="10561320" cy="566928"/>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A ejerce como persona natural, emite boletas de honorarios. Puede deducir gastos efectivos o presuntos (30%, tope 15 UTA). Paga IGC sobre el total. Opción más simple, sin exposición a las NGA.</a:t>
            </a:r>
          </a:p>
        </p:txBody>
      </p:sp>
      <p:sp>
        <p:nvSpPr>
          <p:cNvPr id="14" name="Oval 13"/>
          <p:cNvSpPr/>
          <p:nvPr/>
        </p:nvSpPr>
        <p:spPr>
          <a:xfrm>
            <a:off x="457200" y="2715768"/>
            <a:ext cx="512064" cy="512064"/>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5" name="Rectangle 14"/>
          <p:cNvSpPr/>
          <p:nvPr/>
        </p:nvSpPr>
        <p:spPr>
          <a:xfrm>
            <a:off x="1097280" y="2496312"/>
            <a:ext cx="64008" cy="950976"/>
          </a:xfrm>
          <a:prstGeom prst="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207008" y="2496312"/>
            <a:ext cx="10561320" cy="347472"/>
          </a:xfrm>
          <a:prstGeom prst="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71600" y="2505456"/>
            <a:ext cx="10332720" cy="347472"/>
          </a:xfrm>
          <a:prstGeom prst="rect">
            <a:avLst/>
          </a:prstGeom>
          <a:noFill/>
        </p:spPr>
        <p:txBody>
          <a:bodyPr wrap="square" lIns="0" rIns="0" tIns="0" bIns="0" anchor="ctr">
            <a:spAutoFit/>
          </a:bodyPr>
          <a:lstStyle/>
          <a:p>
            <a:pPr algn="l"/>
            <a:r>
              <a:rPr sz="1250" b="1" i="0">
                <a:solidFill>
                  <a:srgbClr val="FFFFFF"/>
                </a:solidFill>
                <a:latin typeface="Calibri"/>
              </a:rPr>
              <a:t>Sociedad de profesionales con socios que efectivamente trabajen</a:t>
            </a:r>
          </a:p>
        </p:txBody>
      </p:sp>
      <p:sp>
        <p:nvSpPr>
          <p:cNvPr id="18" name="Rounded Rectangle 17"/>
          <p:cNvSpPr/>
          <p:nvPr/>
        </p:nvSpPr>
        <p:spPr>
          <a:xfrm>
            <a:off x="1207008" y="2862072"/>
            <a:ext cx="10561320" cy="566928"/>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A se asocia con profesionales que coadyuven a la prestación de servicios. D califica legítimamente bajo Art. 42 N°2 inc. 3° LIR y puede optar por tributar en 1ª o 2ª categoría.</a:t>
            </a:r>
          </a:p>
        </p:txBody>
      </p:sp>
      <p:sp>
        <p:nvSpPr>
          <p:cNvPr id="19" name="Oval 18"/>
          <p:cNvSpPr/>
          <p:nvPr/>
        </p:nvSpPr>
        <p:spPr>
          <a:xfrm>
            <a:off x="457200" y="3703320"/>
            <a:ext cx="512064" cy="512064"/>
          </a:xfrm>
          <a:prstGeom prst="ellipse">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20" name="Rectangle 19"/>
          <p:cNvSpPr/>
          <p:nvPr/>
        </p:nvSpPr>
        <p:spPr>
          <a:xfrm>
            <a:off x="1097280" y="3483864"/>
            <a:ext cx="64008" cy="950976"/>
          </a:xfrm>
          <a:prstGeom prst="rect">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207008" y="3483864"/>
            <a:ext cx="10561320" cy="347472"/>
          </a:xfrm>
          <a:prstGeom prst="rect">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71600" y="3493008"/>
            <a:ext cx="10332720" cy="347472"/>
          </a:xfrm>
          <a:prstGeom prst="rect">
            <a:avLst/>
          </a:prstGeom>
          <a:noFill/>
        </p:spPr>
        <p:txBody>
          <a:bodyPr wrap="square" lIns="0" rIns="0" tIns="0" bIns="0" anchor="ctr">
            <a:spAutoFit/>
          </a:bodyPr>
          <a:lstStyle/>
          <a:p>
            <a:pPr algn="l"/>
            <a:r>
              <a:rPr sz="1250" b="1" i="0">
                <a:solidFill>
                  <a:srgbClr val="FFFFFF"/>
                </a:solidFill>
                <a:latin typeface="Calibri"/>
              </a:rPr>
              <a:t>Distribución de utilidades proporcional al trabajo real</a:t>
            </a:r>
          </a:p>
        </p:txBody>
      </p:sp>
      <p:sp>
        <p:nvSpPr>
          <p:cNvPr id="23" name="Rounded Rectangle 22"/>
          <p:cNvSpPr/>
          <p:nvPr/>
        </p:nvSpPr>
        <p:spPr>
          <a:xfrm>
            <a:off x="1207008" y="3849624"/>
            <a:ext cx="10561320" cy="566928"/>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Estatutos con participación diferenciada (ej. A 90%, B 5%, C 5%) o sueldo patronal a A previo al reparto. La distribución debe reflejar el aporte económico real de cada socio.</a:t>
            </a:r>
          </a:p>
        </p:txBody>
      </p:sp>
      <p:sp>
        <p:nvSpPr>
          <p:cNvPr id="24" name="Oval 23"/>
          <p:cNvSpPr/>
          <p:nvPr/>
        </p:nvSpPr>
        <p:spPr>
          <a:xfrm>
            <a:off x="457200" y="4690872"/>
            <a:ext cx="512064" cy="512064"/>
          </a:xfrm>
          <a:prstGeom prst="ellipse">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25" name="Rectangle 24"/>
          <p:cNvSpPr/>
          <p:nvPr/>
        </p:nvSpPr>
        <p:spPr>
          <a:xfrm>
            <a:off x="1097280" y="4471416"/>
            <a:ext cx="64008" cy="950976"/>
          </a:xfrm>
          <a:prstGeom prst="rect">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207008" y="4471416"/>
            <a:ext cx="10561320" cy="347472"/>
          </a:xfrm>
          <a:prstGeom prst="rect">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71600" y="4480560"/>
            <a:ext cx="10332720" cy="347472"/>
          </a:xfrm>
          <a:prstGeom prst="rect">
            <a:avLst/>
          </a:prstGeom>
          <a:noFill/>
        </p:spPr>
        <p:txBody>
          <a:bodyPr wrap="square" lIns="0" rIns="0" tIns="0" bIns="0" anchor="ctr">
            <a:spAutoFit/>
          </a:bodyPr>
          <a:lstStyle/>
          <a:p>
            <a:pPr algn="l"/>
            <a:r>
              <a:rPr sz="1250" b="1" i="0">
                <a:solidFill>
                  <a:srgbClr val="FFFFFF"/>
                </a:solidFill>
                <a:latin typeface="Calibri"/>
              </a:rPr>
              <a:t>Sociedad por Acciones (SpA) — régimen Pro Pyme (Art. 14 D N°3 LIR)</a:t>
            </a:r>
          </a:p>
        </p:txBody>
      </p:sp>
      <p:sp>
        <p:nvSpPr>
          <p:cNvPr id="28" name="Rounded Rectangle 27"/>
          <p:cNvSpPr/>
          <p:nvPr/>
        </p:nvSpPr>
        <p:spPr>
          <a:xfrm>
            <a:off x="1207008" y="4837176"/>
            <a:ext cx="10561320" cy="566928"/>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SpA con IDPC al 25%. Permite planificación de retiros y reinversión. Sin las restricciones de la sociedad de profesionales, pero exige sustancia económica real.</a:t>
            </a:r>
          </a:p>
        </p:txBody>
      </p:sp>
      <p:sp>
        <p:nvSpPr>
          <p:cNvPr id="29" name="Oval 28"/>
          <p:cNvSpPr/>
          <p:nvPr/>
        </p:nvSpPr>
        <p:spPr>
          <a:xfrm>
            <a:off x="457200" y="5678424"/>
            <a:ext cx="512064" cy="512064"/>
          </a:xfrm>
          <a:prstGeom prst="ellipse">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30" name="Rectangle 29"/>
          <p:cNvSpPr/>
          <p:nvPr/>
        </p:nvSpPr>
        <p:spPr>
          <a:xfrm>
            <a:off x="1097280" y="5458968"/>
            <a:ext cx="64008" cy="950976"/>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207008" y="5458968"/>
            <a:ext cx="10561320" cy="347472"/>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71600" y="5468112"/>
            <a:ext cx="10332720" cy="347472"/>
          </a:xfrm>
          <a:prstGeom prst="rect">
            <a:avLst/>
          </a:prstGeom>
          <a:noFill/>
        </p:spPr>
        <p:txBody>
          <a:bodyPr wrap="square" lIns="0" rIns="0" tIns="0" bIns="0" anchor="ctr">
            <a:spAutoFit/>
          </a:bodyPr>
          <a:lstStyle/>
          <a:p>
            <a:pPr algn="l"/>
            <a:r>
              <a:rPr sz="1250" b="1" i="0">
                <a:solidFill>
                  <a:srgbClr val="FFFFFF"/>
                </a:solidFill>
                <a:latin typeface="Calibri"/>
              </a:rPr>
              <a:t>Régimen Pro Pyme Transparente — Art. 14 D N°8 LIR</a:t>
            </a:r>
          </a:p>
        </p:txBody>
      </p:sp>
      <p:sp>
        <p:nvSpPr>
          <p:cNvPr id="33" name="Rounded Rectangle 32"/>
          <p:cNvSpPr/>
          <p:nvPr/>
        </p:nvSpPr>
        <p:spPr>
          <a:xfrm>
            <a:off x="1207008" y="5824728"/>
            <a:ext cx="10561320" cy="566928"/>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La empresa no paga IDPC; socios tributan directamente con IGC. Válido solo si los socios tienen sustancia económica real — si no, el SII puede igualmente aplicar las NGA.</a:t>
            </a:r>
          </a:p>
        </p:txBody>
      </p:sp>
      <p:sp>
        <p:nvSpPr>
          <p:cNvPr id="34" name="Rectangle 33"/>
          <p:cNvSpPr/>
          <p:nvPr/>
        </p:nvSpPr>
        <p:spPr>
          <a:xfrm>
            <a:off x="1097280" y="6355080"/>
            <a:ext cx="10671048"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r>
              <a:rPr sz="1050" b="0">
                <a:solidFill>
                  <a:srgbClr val="FFFFFF"/>
                </a:solidFill>
                <a:latin typeface="Calibri"/>
              </a:rPr>
              <a:t>Toda alternativa debe poder acreditar SUSTANCIA ECONÓMICA REAL. La sola forma jurídica no es suficiente frente a las NGA.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0" y="0"/>
            <a:ext cx="12191695" cy="13258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2552"/>
            <a:ext cx="12191695" cy="1554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711696"/>
            <a:ext cx="11430000" cy="128016"/>
          </a:xfrm>
          <a:prstGeom prst="rect">
            <a:avLst/>
          </a:prstGeom>
          <a:noFill/>
        </p:spPr>
        <p:txBody>
          <a:bodyPr wrap="square" lIns="0" rIns="0" tIns="0" bIns="0" anchor="t">
            <a:spAutoFit/>
          </a:bodyPr>
          <a:lstStyle/>
          <a:p>
            <a:pPr algn="r"/>
            <a:r>
              <a:rPr sz="800" b="0" i="0">
                <a:solidFill>
                  <a:srgbClr val="AABBCC"/>
                </a:solidFill>
                <a:latin typeface="Calibri"/>
              </a:rPr>
              <a:t>Grupo 4: Andrea Añasco · Gema Sepúlveda · Karen Rebolledo · Nicolás Muñoz   |   Caso 86 — Catálogo de Esquemas Tributarios SII 2025</a:t>
            </a:r>
          </a:p>
        </p:txBody>
      </p:sp>
      <p:sp>
        <p:nvSpPr>
          <p:cNvPr id="6" name="Rectangle 5"/>
          <p:cNvSpPr/>
          <p:nvPr/>
        </p:nvSpPr>
        <p:spPr>
          <a:xfrm>
            <a:off x="0" y="1325880"/>
            <a:ext cx="12191695" cy="548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
            <a:ext cx="9601200" cy="914400"/>
          </a:xfrm>
          <a:prstGeom prst="rect">
            <a:avLst/>
          </a:prstGeom>
          <a:noFill/>
        </p:spPr>
        <p:txBody>
          <a:bodyPr wrap="square" lIns="0" rIns="0" tIns="0" bIns="0" anchor="ctr">
            <a:spAutoFit/>
          </a:bodyPr>
          <a:lstStyle/>
          <a:p>
            <a:pPr algn="l"/>
            <a:r>
              <a:rPr sz="2800" b="1" i="0">
                <a:solidFill>
                  <a:srgbClr val="FFFFFF"/>
                </a:solidFill>
                <a:latin typeface="Calibri"/>
              </a:rPr>
              <a:t>Conclusiones</a:t>
            </a:r>
          </a:p>
        </p:txBody>
      </p:sp>
      <p:sp>
        <p:nvSpPr>
          <p:cNvPr id="8" name="TextBox 7"/>
          <p:cNvSpPr txBox="1"/>
          <p:nvPr/>
        </p:nvSpPr>
        <p:spPr>
          <a:xfrm>
            <a:off x="502920" y="868680"/>
            <a:ext cx="9601200" cy="411480"/>
          </a:xfrm>
          <a:prstGeom prst="rect">
            <a:avLst/>
          </a:prstGeom>
          <a:noFill/>
        </p:spPr>
        <p:txBody>
          <a:bodyPr wrap="square" lIns="0" rIns="0" tIns="0" bIns="0" anchor="t">
            <a:spAutoFit/>
          </a:bodyPr>
          <a:lstStyle/>
          <a:p>
            <a:pPr algn="l"/>
            <a:r>
              <a:rPr sz="1300" b="0" i="0">
                <a:solidFill>
                  <a:srgbClr val="AABBCC"/>
                </a:solidFill>
                <a:latin typeface="Calibri"/>
              </a:rPr>
              <a:t>Caso 86 — Síntesis del análisis — Posición del Grupo 4</a:t>
            </a:r>
          </a:p>
        </p:txBody>
      </p:sp>
      <p:sp>
        <p:nvSpPr>
          <p:cNvPr id="9" name="Oval 8"/>
          <p:cNvSpPr/>
          <p:nvPr/>
        </p:nvSpPr>
        <p:spPr>
          <a:xfrm>
            <a:off x="457200" y="1673351"/>
            <a:ext cx="512064" cy="512064"/>
          </a:xfrm>
          <a:prstGeom prst="ellipse">
            <a:avLst/>
          </a:prstGeom>
          <a:solidFill>
            <a:srgbClr val="C028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10" name="Rectangle 9"/>
          <p:cNvSpPr/>
          <p:nvPr/>
        </p:nvSpPr>
        <p:spPr>
          <a:xfrm>
            <a:off x="1097280" y="1508760"/>
            <a:ext cx="64008" cy="841248"/>
          </a:xfrm>
          <a:prstGeom prst="rect">
            <a:avLst/>
          </a:prstGeom>
          <a:solidFill>
            <a:srgbClr val="C0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207008" y="1508760"/>
            <a:ext cx="10561320" cy="329184"/>
          </a:xfrm>
          <a:prstGeom prst="rect">
            <a:avLst/>
          </a:prstGeom>
          <a:solidFill>
            <a:srgbClr val="C0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1517904"/>
            <a:ext cx="10332720" cy="329184"/>
          </a:xfrm>
          <a:prstGeom prst="rect">
            <a:avLst/>
          </a:prstGeom>
          <a:noFill/>
        </p:spPr>
        <p:txBody>
          <a:bodyPr wrap="square" lIns="0" rIns="0" tIns="0" bIns="0" anchor="ctr">
            <a:spAutoFit/>
          </a:bodyPr>
          <a:lstStyle/>
          <a:p>
            <a:pPr algn="l"/>
            <a:r>
              <a:rPr sz="1250" b="1" i="0">
                <a:solidFill>
                  <a:srgbClr val="FFFFFF"/>
                </a:solidFill>
                <a:latin typeface="Calibri"/>
              </a:rPr>
              <a:t>ABUSO de formas jurídicas — Art. 4 ter CT</a:t>
            </a:r>
          </a:p>
        </p:txBody>
      </p:sp>
      <p:sp>
        <p:nvSpPr>
          <p:cNvPr id="13" name="Rounded Rectangle 12"/>
          <p:cNvSpPr/>
          <p:nvPr/>
        </p:nvSpPr>
        <p:spPr>
          <a:xfrm>
            <a:off x="1207008" y="1847088"/>
            <a:ext cx="10561320" cy="493776"/>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El Caso 86 configura abuso, no simulación. Los actos son reales pero la forma jurídica es inapropiada: el único efecto relevante es tributario.</a:t>
            </a:r>
          </a:p>
        </p:txBody>
      </p:sp>
      <p:sp>
        <p:nvSpPr>
          <p:cNvPr id="14" name="Oval 13"/>
          <p:cNvSpPr/>
          <p:nvPr/>
        </p:nvSpPr>
        <p:spPr>
          <a:xfrm>
            <a:off x="457200" y="2551176"/>
            <a:ext cx="512064" cy="512064"/>
          </a:xfrm>
          <a:prstGeom prst="ellipse">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5" name="Rectangle 14"/>
          <p:cNvSpPr/>
          <p:nvPr/>
        </p:nvSpPr>
        <p:spPr>
          <a:xfrm>
            <a:off x="1097280" y="2386584"/>
            <a:ext cx="64008" cy="841248"/>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207008" y="2386584"/>
            <a:ext cx="10561320" cy="32918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71600" y="2395727"/>
            <a:ext cx="10332720" cy="329184"/>
          </a:xfrm>
          <a:prstGeom prst="rect">
            <a:avLst/>
          </a:prstGeom>
          <a:noFill/>
        </p:spPr>
        <p:txBody>
          <a:bodyPr wrap="square" lIns="0" rIns="0" tIns="0" bIns="0" anchor="ctr">
            <a:spAutoFit/>
          </a:bodyPr>
          <a:lstStyle/>
          <a:p>
            <a:pPr algn="l"/>
            <a:r>
              <a:rPr sz="1250" b="1" i="0">
                <a:solidFill>
                  <a:srgbClr val="FFFFFF"/>
                </a:solidFill>
                <a:latin typeface="Calibri"/>
              </a:rPr>
              <a:t>La sociedad D no califica como sociedad de profesionales</a:t>
            </a:r>
          </a:p>
        </p:txBody>
      </p:sp>
      <p:sp>
        <p:nvSpPr>
          <p:cNvPr id="18" name="Rounded Rectangle 17"/>
          <p:cNvSpPr/>
          <p:nvPr/>
        </p:nvSpPr>
        <p:spPr>
          <a:xfrm>
            <a:off x="1207008" y="2724912"/>
            <a:ext cx="10561320" cy="493776"/>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B y C no ejercen su profesión para D, incumpliendo el requisito copulativo de las Circulares N°21/1991 y N°50/2020 del SII.</a:t>
            </a:r>
          </a:p>
        </p:txBody>
      </p:sp>
      <p:sp>
        <p:nvSpPr>
          <p:cNvPr id="19" name="Oval 18"/>
          <p:cNvSpPr/>
          <p:nvPr/>
        </p:nvSpPr>
        <p:spPr>
          <a:xfrm>
            <a:off x="457200" y="3429000"/>
            <a:ext cx="512064" cy="512064"/>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20" name="Rectangle 19"/>
          <p:cNvSpPr/>
          <p:nvPr/>
        </p:nvSpPr>
        <p:spPr>
          <a:xfrm>
            <a:off x="1097280" y="3264408"/>
            <a:ext cx="64008" cy="8412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207008" y="3264408"/>
            <a:ext cx="1056132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71600" y="3273551"/>
            <a:ext cx="10332720" cy="329184"/>
          </a:xfrm>
          <a:prstGeom prst="rect">
            <a:avLst/>
          </a:prstGeom>
          <a:noFill/>
        </p:spPr>
        <p:txBody>
          <a:bodyPr wrap="square" lIns="0" rIns="0" tIns="0" bIns="0" anchor="ctr">
            <a:spAutoFit/>
          </a:bodyPr>
          <a:lstStyle/>
          <a:p>
            <a:pPr algn="l"/>
            <a:r>
              <a:rPr sz="1250" b="1" i="0">
                <a:solidFill>
                  <a:srgbClr val="FFFFFF"/>
                </a:solidFill>
                <a:latin typeface="Calibri"/>
              </a:rPr>
              <a:t>El SII puede requerir declaración de abuso al TTA</a:t>
            </a:r>
          </a:p>
        </p:txBody>
      </p:sp>
      <p:sp>
        <p:nvSpPr>
          <p:cNvPr id="23" name="Rounded Rectangle 22"/>
          <p:cNvSpPr/>
          <p:nvPr/>
        </p:nvSpPr>
        <p:spPr>
          <a:xfrm>
            <a:off x="1207008" y="3602736"/>
            <a:ext cx="10561320" cy="493776"/>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Art. 4 quinquies CT: el Director puede solicitar al Tribunal Tributario y Aduanero la declaración de abuso → recalificación + atribución íntegra a A + intereses + multas.</a:t>
            </a:r>
          </a:p>
        </p:txBody>
      </p:sp>
      <p:sp>
        <p:nvSpPr>
          <p:cNvPr id="24" name="Oval 23"/>
          <p:cNvSpPr/>
          <p:nvPr/>
        </p:nvSpPr>
        <p:spPr>
          <a:xfrm>
            <a:off x="457200" y="4306824"/>
            <a:ext cx="512064" cy="512064"/>
          </a:xfrm>
          <a:prstGeom prst="ellipse">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25" name="Rectangle 24"/>
          <p:cNvSpPr/>
          <p:nvPr/>
        </p:nvSpPr>
        <p:spPr>
          <a:xfrm>
            <a:off x="1097280" y="4142232"/>
            <a:ext cx="64008" cy="841248"/>
          </a:xfrm>
          <a:prstGeom prst="rect">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207008" y="4142232"/>
            <a:ext cx="10561320" cy="329184"/>
          </a:xfrm>
          <a:prstGeom prst="rect">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71600" y="4151376"/>
            <a:ext cx="10332720" cy="329184"/>
          </a:xfrm>
          <a:prstGeom prst="rect">
            <a:avLst/>
          </a:prstGeom>
          <a:noFill/>
        </p:spPr>
        <p:txBody>
          <a:bodyPr wrap="square" lIns="0" rIns="0" tIns="0" bIns="0" anchor="ctr">
            <a:spAutoFit/>
          </a:bodyPr>
          <a:lstStyle/>
          <a:p>
            <a:pPr algn="l"/>
            <a:r>
              <a:rPr sz="1250" b="1" i="0">
                <a:solidFill>
                  <a:srgbClr val="FFFFFF"/>
                </a:solidFill>
                <a:latin typeface="Calibri"/>
              </a:rPr>
              <a:t>Existen alternativas legítimas de organización</a:t>
            </a:r>
          </a:p>
        </p:txBody>
      </p:sp>
      <p:sp>
        <p:nvSpPr>
          <p:cNvPr id="28" name="Rounded Rectangle 27"/>
          <p:cNvSpPr/>
          <p:nvPr/>
        </p:nvSpPr>
        <p:spPr>
          <a:xfrm>
            <a:off x="1207008" y="4480560"/>
            <a:ext cx="10561320" cy="493776"/>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Profesional independiente, sociedad con socios reales, distribución proporcional al trabajo, SpA Pro Pyme (14 D N°3) o Régimen Transparente (14 D N°8).</a:t>
            </a:r>
          </a:p>
        </p:txBody>
      </p:sp>
      <p:sp>
        <p:nvSpPr>
          <p:cNvPr id="29" name="Oval 28"/>
          <p:cNvSpPr/>
          <p:nvPr/>
        </p:nvSpPr>
        <p:spPr>
          <a:xfrm>
            <a:off x="457200" y="5184648"/>
            <a:ext cx="512064" cy="512064"/>
          </a:xfrm>
          <a:prstGeom prst="ellipse">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30" name="Rectangle 29"/>
          <p:cNvSpPr/>
          <p:nvPr/>
        </p:nvSpPr>
        <p:spPr>
          <a:xfrm>
            <a:off x="1097280" y="5020056"/>
            <a:ext cx="64008" cy="841248"/>
          </a:xfrm>
          <a:prstGeom prst="rect">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207008" y="5020056"/>
            <a:ext cx="10561320" cy="329184"/>
          </a:xfrm>
          <a:prstGeom prst="rect">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71600" y="5029200"/>
            <a:ext cx="10332720" cy="329184"/>
          </a:xfrm>
          <a:prstGeom prst="rect">
            <a:avLst/>
          </a:prstGeom>
          <a:noFill/>
        </p:spPr>
        <p:txBody>
          <a:bodyPr wrap="square" lIns="0" rIns="0" tIns="0" bIns="0" anchor="ctr">
            <a:spAutoFit/>
          </a:bodyPr>
          <a:lstStyle/>
          <a:p>
            <a:pPr algn="l"/>
            <a:r>
              <a:rPr sz="1250" b="1" i="0">
                <a:solidFill>
                  <a:srgbClr val="FFFFFF"/>
                </a:solidFill>
                <a:latin typeface="Calibri"/>
              </a:rPr>
              <a:t>La clave es la sustancia económica real</a:t>
            </a:r>
          </a:p>
        </p:txBody>
      </p:sp>
      <p:sp>
        <p:nvSpPr>
          <p:cNvPr id="33" name="Rounded Rectangle 32"/>
          <p:cNvSpPr/>
          <p:nvPr/>
        </p:nvSpPr>
        <p:spPr>
          <a:xfrm>
            <a:off x="1207008" y="5358384"/>
            <a:ext cx="10561320" cy="493776"/>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Toda estructura debe demostrar que los socios aportan trabajo, capital, clientela o dirección efectiva. La forma jurídica por sí sola no es suficiente.</a:t>
            </a:r>
          </a:p>
        </p:txBody>
      </p:sp>
      <p:sp>
        <p:nvSpPr>
          <p:cNvPr id="34" name="Rectangle 33"/>
          <p:cNvSpPr/>
          <p:nvPr/>
        </p:nvSpPr>
        <p:spPr>
          <a:xfrm>
            <a:off x="0" y="6035040"/>
            <a:ext cx="12191695" cy="5943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6035040"/>
            <a:ext cx="12191695" cy="45720"/>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6099048"/>
            <a:ext cx="11247120" cy="457200"/>
          </a:xfrm>
          <a:prstGeom prst="rect">
            <a:avLst/>
          </a:prstGeom>
          <a:noFill/>
        </p:spPr>
        <p:txBody>
          <a:bodyPr wrap="square" lIns="0" rIns="0" tIns="0" bIns="0" anchor="ctr">
            <a:spAutoFit/>
          </a:bodyPr>
          <a:lstStyle/>
          <a:p>
            <a:pPr algn="ctr"/>
            <a:r>
              <a:rPr sz="1300" b="1" i="0">
                <a:solidFill>
                  <a:srgbClr val="FFFFFF"/>
                </a:solidFill>
                <a:latin typeface="Calibri"/>
              </a:rPr>
              <a:t>Grupo 4   ·   Andrea Añasco  ·  Gema Sepúlveda  ·  Karen Rebolledo  ·  Nicolás Muñoz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